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14"/>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4A"/>
        </a:solidFill>
      </p:bgPr>
    </p:bg>
    <p:spTree>
      <p:nvGrpSpPr>
        <p:cNvPr id="1" name=""/>
        <p:cNvGrpSpPr/>
        <p:nvPr/>
      </p:nvGrpSpPr>
      <p:grpSpPr>
        <a:xfrm>
          <a:off x="0" y="0"/>
          <a:ext cx="0" cy="0"/>
          <a:chOff x="0" y="0"/>
          <a:chExt cx="0" cy="0"/>
        </a:xfrm>
      </p:grpSpPr>
      <p:sp>
        <p:nvSpPr>
          <p:cNvPr id="2" name="Shape 0"/>
          <p:cNvSpPr/>
          <p:nvPr/>
        </p:nvSpPr>
        <p:spPr>
          <a:xfrm>
            <a:off x="914400" y="1463040"/>
            <a:ext cx="7315200" cy="36576"/>
          </a:xfrm>
          <a:prstGeom prst="rect">
            <a:avLst/>
          </a:prstGeom>
          <a:solidFill>
            <a:srgbClr val="14635F"/>
          </a:solidFill>
          <a:ln w="12700">
            <a:solidFill>
              <a:srgbClr val="14635F"/>
            </a:solidFill>
            <a:prstDash val="solid"/>
          </a:ln>
        </p:spPr>
      </p:sp>
      <p:sp>
        <p:nvSpPr>
          <p:cNvPr id="3" name="Text 1"/>
          <p:cNvSpPr/>
          <p:nvPr/>
        </p:nvSpPr>
        <p:spPr>
          <a:xfrm>
            <a:off x="457200" y="914400"/>
            <a:ext cx="8229600" cy="457200"/>
          </a:xfrm>
          <a:prstGeom prst="rect">
            <a:avLst/>
          </a:prstGeom>
          <a:noFill/>
          <a:ln/>
        </p:spPr>
        <p:txBody>
          <a:bodyPr wrap="square" rtlCol="0" anchor="ctr"/>
          <a:lstStyle/>
          <a:p>
            <a:pPr algn="ctr" indent="0" marL="0">
              <a:buNone/>
            </a:pPr>
            <a:r>
              <a:rPr lang="en-US" sz="1800" b="1" spc="400" kern="0" dirty="0">
                <a:solidFill>
                  <a:srgbClr val="93C5C2"/>
                </a:solidFill>
                <a:latin typeface="Calibri" pitchFamily="34" charset="0"/>
                <a:ea typeface="Calibri" pitchFamily="34" charset="-122"/>
                <a:cs typeface="Calibri" pitchFamily="34" charset="-120"/>
              </a:rPr>
              <a:t>Chapter 12</a:t>
            </a:r>
            <a:endParaRPr lang="en-US" sz="1800" dirty="0"/>
          </a:p>
        </p:txBody>
      </p:sp>
      <p:sp>
        <p:nvSpPr>
          <p:cNvPr id="4" name="Text 2"/>
          <p:cNvSpPr/>
          <p:nvPr/>
        </p:nvSpPr>
        <p:spPr>
          <a:xfrm>
            <a:off x="457200" y="1828800"/>
            <a:ext cx="8229600" cy="1463040"/>
          </a:xfrm>
          <a:prstGeom prst="rect">
            <a:avLst/>
          </a:prstGeom>
          <a:noFill/>
          <a:ln/>
        </p:spPr>
        <p:txBody>
          <a:bodyPr wrap="square" rtlCol="0" anchor="t"/>
          <a:lstStyle/>
          <a:p>
            <a:pPr algn="ctr" indent="0" marL="0">
              <a:buNone/>
            </a:pPr>
            <a:r>
              <a:rPr lang="en-US" sz="4400" b="1" dirty="0">
                <a:solidFill>
                  <a:srgbClr val="FFFFFF"/>
                </a:solidFill>
                <a:latin typeface="Calibri" pitchFamily="34" charset="0"/>
                <a:ea typeface="Calibri" pitchFamily="34" charset="-122"/>
                <a:cs typeface="Calibri" pitchFamily="34" charset="-120"/>
              </a:rPr>
              <a:t>Anti-Patterns</a:t>
            </a:r>
            <a:endParaRPr lang="en-US" sz="4400" dirty="0"/>
          </a:p>
        </p:txBody>
      </p:sp>
      <p:sp>
        <p:nvSpPr>
          <p:cNvPr id="5" name="Text 3"/>
          <p:cNvSpPr/>
          <p:nvPr/>
        </p:nvSpPr>
        <p:spPr>
          <a:xfrm>
            <a:off x="457200" y="4023360"/>
            <a:ext cx="8229600" cy="457200"/>
          </a:xfrm>
          <a:prstGeom prst="rect">
            <a:avLst/>
          </a:prstGeom>
          <a:noFill/>
          <a:ln/>
        </p:spPr>
        <p:txBody>
          <a:bodyPr wrap="square" rtlCol="0" anchor="ctr"/>
          <a:lstStyle/>
          <a:p>
            <a:pPr algn="ctr" indent="0" marL="0">
              <a:buNone/>
            </a:pPr>
            <a:r>
              <a:rPr lang="en-US" sz="1600" i="1" dirty="0">
                <a:solidFill>
                  <a:srgbClr val="B8C2D6"/>
                </a:solidFill>
                <a:latin typeface="Calibri" pitchFamily="34" charset="0"/>
                <a:ea typeface="Calibri" pitchFamily="34" charset="-122"/>
                <a:cs typeface="Calibri" pitchFamily="34" charset="-120"/>
              </a:rPr>
              <a:t>Part III — The Agents</a:t>
            </a:r>
            <a:endParaRPr lang="en-US" sz="1600" dirty="0"/>
          </a:p>
        </p:txBody>
      </p:sp>
      <p:sp>
        <p:nvSpPr>
          <p:cNvPr id="6" name="Text 4"/>
          <p:cNvSpPr/>
          <p:nvPr/>
        </p:nvSpPr>
        <p:spPr>
          <a:xfrm>
            <a:off x="457200" y="4663440"/>
            <a:ext cx="8229600" cy="365760"/>
          </a:xfrm>
          <a:prstGeom prst="rect">
            <a:avLst/>
          </a:prstGeom>
          <a:noFill/>
          <a:ln/>
        </p:spPr>
        <p:txBody>
          <a:bodyPr wrap="square" rtlCol="0" anchor="ctr"/>
          <a:lstStyle/>
          <a:p>
            <a:pPr algn="ctr" indent="0" marL="0">
              <a:buNone/>
            </a:pPr>
            <a:r>
              <a:rPr lang="en-US" sz="1200" i="1" dirty="0">
                <a:solidFill>
                  <a:srgbClr val="6E7E94"/>
                </a:solidFill>
                <a:latin typeface="Calibri" pitchFamily="34" charset="0"/>
                <a:ea typeface="Calibri" pitchFamily="34" charset="-122"/>
                <a:cs typeface="Calibri" pitchFamily="34" charset="-120"/>
              </a:rPr>
              <a:t>AI-Driven SDLC — A Federated Framework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algn="l" indent="0" marL="0">
              <a:buNone/>
            </a:pPr>
            <a:r>
              <a:rPr lang="en-US" sz="3200" b="1" dirty="0">
                <a:solidFill>
                  <a:srgbClr val="1F3864"/>
                </a:solidFill>
                <a:latin typeface="Calibri" pitchFamily="34" charset="0"/>
                <a:ea typeface="Calibri" pitchFamily="34" charset="-122"/>
                <a:cs typeface="Calibri" pitchFamily="34" charset="-120"/>
              </a:rPr>
              <a:t>Learning Objectives</a:t>
            </a:r>
            <a:endParaRPr lang="en-US" sz="32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400" i="1" dirty="0">
                <a:solidFill>
                  <a:srgbClr val="6E6E6E"/>
                </a:solidFill>
                <a:latin typeface="Calibri" pitchFamily="34" charset="0"/>
                <a:ea typeface="Calibri" pitchFamily="34" charset="-122"/>
                <a:cs typeface="Calibri" pitchFamily="34" charset="-120"/>
              </a:rPr>
              <a:t>Chapter 12 — Anti-Patterns</a:t>
            </a:r>
            <a:endParaRPr lang="en-US" sz="1400" dirty="0"/>
          </a:p>
        </p:txBody>
      </p:sp>
      <p:sp>
        <p:nvSpPr>
          <p:cNvPr id="4" name="Text 2"/>
          <p:cNvSpPr/>
          <p:nvPr/>
        </p:nvSpPr>
        <p:spPr>
          <a:xfrm>
            <a:off x="640080" y="1554480"/>
            <a:ext cx="7863840" cy="3383280"/>
          </a:xfrm>
          <a:prstGeom prst="rect">
            <a:avLst/>
          </a:prstGeom>
          <a:noFill/>
          <a:ln/>
        </p:spPr>
        <p:txBody>
          <a:bodyPr wrap="square" rtlCol="0" anchor="t"/>
          <a:lstStyle/>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Recognize the twelve recurring anti-patterns from Chapter 12</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Apply diagnostic questions that surface anti-patterns the team has not named</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Distinguish symptomatic responses (adding agents, fast-lanes) from root-cause repair</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Treat recurring escapes as patterns, not coincidences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Why Self-Assessment Fails</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12</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Teams see outcomes (we ship) and not the discipline that should have produced them</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"We don't do any of these" is itself an anti-pattern</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Three diagnostic questions almost always reveal at least one anti-pattern present</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External review or rotating audit roles surface what the team can't see in itself</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Patterns of Avoidance</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12</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Adding a new agent role to handle the symptoms of a broken workflow</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Reviewer-of-reviewers patterns paper over the gap rather than closing it</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Closing tickets without a postmortem when retries fix them — the seat-overrun signature</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Three similar incidents in a quarter is a pattern, not a coincidence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1F3864"/>
                </a:solidFill>
                <a:latin typeface="Calibri" pitchFamily="34" charset="0"/>
                <a:ea typeface="Calibri" pitchFamily="34" charset="-122"/>
                <a:cs typeface="Calibri" pitchFamily="34" charset="-120"/>
              </a:rPr>
              <a:t>The Discipline Underneath</a:t>
            </a:r>
            <a:endParaRPr lang="en-US" sz="2800" dirty="0"/>
          </a:p>
        </p:txBody>
      </p:sp>
      <p:sp>
        <p:nvSpPr>
          <p:cNvPr id="3" name="Text 1"/>
          <p:cNvSpPr/>
          <p:nvPr/>
        </p:nvSpPr>
        <p:spPr>
          <a:xfrm>
            <a:off x="6583680" y="411480"/>
            <a:ext cx="2103120" cy="365760"/>
          </a:xfrm>
          <a:prstGeom prst="rect">
            <a:avLst/>
          </a:prstGeom>
          <a:noFill/>
          <a:ln/>
        </p:spPr>
        <p:txBody>
          <a:bodyPr wrap="square" rtlCol="0" anchor="ctr"/>
          <a:lstStyle/>
          <a:p>
            <a:pPr algn="r" indent="0" marL="0">
              <a:buNone/>
            </a:pPr>
            <a:r>
              <a:rPr lang="en-US" sz="1200" i="1" dirty="0">
                <a:solidFill>
                  <a:srgbClr val="6E6E6E"/>
                </a:solidFill>
                <a:latin typeface="Calibri" pitchFamily="34" charset="0"/>
                <a:ea typeface="Calibri" pitchFamily="34" charset="-122"/>
                <a:cs typeface="Calibri" pitchFamily="34" charset="-120"/>
              </a:rPr>
              <a:t>Chapter 12</a:t>
            </a:r>
            <a:endParaRPr lang="en-US" sz="1200" dirty="0"/>
          </a:p>
        </p:txBody>
      </p:sp>
      <p:sp>
        <p:nvSpPr>
          <p:cNvPr id="4" name="Text 2"/>
          <p:cNvSpPr/>
          <p:nvPr/>
        </p:nvSpPr>
        <p:spPr>
          <a:xfrm>
            <a:off x="640080" y="1280160"/>
            <a:ext cx="7863840" cy="365760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Most anti-patterns get adopted as conveniences during normal operation</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They reveal their cost only during pathological cases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The instinct to "simplify" is often the instinct to remove what was keeping a failure mode under control</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Honest naming of the pattern is the first repair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2E5"/>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2800" b="1" dirty="0">
                <a:solidFill>
                  <a:srgbClr val="9C5A14"/>
                </a:solidFill>
                <a:latin typeface="Calibri" pitchFamily="34" charset="0"/>
                <a:ea typeface="Calibri" pitchFamily="34" charset="-122"/>
                <a:cs typeface="Calibri" pitchFamily="34" charset="-120"/>
              </a:rPr>
              <a:t>Common Mistakes</a:t>
            </a:r>
            <a:endParaRPr lang="en-US" sz="28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300" i="1" dirty="0">
                <a:solidFill>
                  <a:srgbClr val="7C4910"/>
                </a:solidFill>
                <a:latin typeface="Calibri" pitchFamily="34" charset="0"/>
                <a:ea typeface="Calibri" pitchFamily="34" charset="-122"/>
                <a:cs typeface="Calibri" pitchFamily="34" charset="-120"/>
              </a:rPr>
              <a:t>Chapter 12 — patterns that look reasonable and aren't</a:t>
            </a:r>
            <a:endParaRPr lang="en-US" sz="1300" dirty="0"/>
          </a:p>
        </p:txBody>
      </p:sp>
      <p:sp>
        <p:nvSpPr>
          <p:cNvPr id="4" name="Text 2"/>
          <p:cNvSpPr/>
          <p:nvPr/>
        </p:nvSpPr>
        <p:spPr>
          <a:xfrm>
            <a:off x="640080" y="1554480"/>
            <a:ext cx="7863840" cy="3200400"/>
          </a:xfrm>
          <a:prstGeom prst="rect">
            <a:avLst/>
          </a:prstGeom>
          <a:noFill/>
          <a:ln/>
        </p:spPr>
        <p:txBody>
          <a:bodyPr wrap="square" rtlCol="0" anchor="t"/>
          <a:lstStyle/>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Believing "we don't do any of these"</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Adding a new agent role rather than fixing the workflow</a:t>
            </a:r>
            <a:endParaRPr lang="en-US" sz="1700" dirty="0"/>
          </a:p>
          <a:p>
            <a:pPr marL="342900" indent="-342900">
              <a:spcAft>
                <a:spcPts val="600"/>
              </a:spcAft>
              <a:buSzPct val="100000"/>
              <a:buChar char="•"/>
            </a:pPr>
            <a:r>
              <a:rPr lang="en-US" sz="1700" dirty="0">
                <a:solidFill>
                  <a:srgbClr val="333333"/>
                </a:solidFill>
                <a:latin typeface="Calibri" pitchFamily="34" charset="0"/>
                <a:ea typeface="Calibri" pitchFamily="34" charset="-122"/>
                <a:cs typeface="Calibri" pitchFamily="34" charset="-120"/>
              </a:rPr>
              <a:t>Treating recurring escapes as one-off bugs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2F1"/>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algn="l" indent="0" marL="0">
              <a:buNone/>
            </a:pPr>
            <a:r>
              <a:rPr lang="en-US" sz="3200" b="1" dirty="0">
                <a:solidFill>
                  <a:srgbClr val="14635F"/>
                </a:solidFill>
                <a:latin typeface="Calibri" pitchFamily="34" charset="0"/>
                <a:ea typeface="Calibri" pitchFamily="34" charset="-122"/>
                <a:cs typeface="Calibri" pitchFamily="34" charset="-120"/>
              </a:rPr>
              <a:t>Takeaway</a:t>
            </a:r>
            <a:endParaRPr lang="en-US" sz="3200" dirty="0"/>
          </a:p>
        </p:txBody>
      </p:sp>
      <p:sp>
        <p:nvSpPr>
          <p:cNvPr id="3" name="Text 1"/>
          <p:cNvSpPr/>
          <p:nvPr/>
        </p:nvSpPr>
        <p:spPr>
          <a:xfrm>
            <a:off x="457200" y="960120"/>
            <a:ext cx="8229600" cy="365760"/>
          </a:xfrm>
          <a:prstGeom prst="rect">
            <a:avLst/>
          </a:prstGeom>
          <a:noFill/>
          <a:ln/>
        </p:spPr>
        <p:txBody>
          <a:bodyPr wrap="square" rtlCol="0" anchor="ctr"/>
          <a:lstStyle/>
          <a:p>
            <a:pPr algn="l" indent="0" marL="0">
              <a:buNone/>
            </a:pPr>
            <a:r>
              <a:rPr lang="en-US" sz="1400" i="1" dirty="0">
                <a:solidFill>
                  <a:srgbClr val="0E4D49"/>
                </a:solidFill>
                <a:latin typeface="Calibri" pitchFamily="34" charset="0"/>
                <a:ea typeface="Calibri" pitchFamily="34" charset="-122"/>
                <a:cs typeface="Calibri" pitchFamily="34" charset="-120"/>
              </a:rPr>
              <a:t>Chapter 12 — Anti-Patterns</a:t>
            </a:r>
            <a:endParaRPr lang="en-US" sz="1400" dirty="0"/>
          </a:p>
        </p:txBody>
      </p:sp>
      <p:sp>
        <p:nvSpPr>
          <p:cNvPr id="4" name="Text 2"/>
          <p:cNvSpPr/>
          <p:nvPr/>
        </p:nvSpPr>
        <p:spPr>
          <a:xfrm>
            <a:off x="640080" y="1645920"/>
            <a:ext cx="7863840" cy="3108960"/>
          </a:xfrm>
          <a:prstGeom prst="rect">
            <a:avLst/>
          </a:prstGeom>
          <a:noFill/>
          <a:ln/>
        </p:spPr>
        <p:txBody>
          <a:bodyPr wrap="square" rtlCol="0" anchor="t"/>
          <a:lstStyle/>
          <a:p>
            <a:pPr algn="l" indent="0" marL="0">
              <a:spcAft>
                <a:spcPts val="1200"/>
              </a:spcAft>
              <a:buNone/>
            </a:pPr>
            <a:r>
              <a:rPr lang="en-US" sz="1900" dirty="0">
                <a:solidFill>
                  <a:srgbClr val="333333"/>
                </a:solidFill>
                <a:latin typeface="Calibri" pitchFamily="34" charset="0"/>
                <a:ea typeface="Calibri" pitchFamily="34" charset="-122"/>
                <a:cs typeface="Calibri" pitchFamily="34" charset="-120"/>
              </a:rPr>
              <a:t>Twelve common failure modes, each with the discipline that prevents it. Most get adopted as conveniences and reveal their cost during pathological cases. The instinct to "simplify" is often the instinct to remove what was keeping a specific failure mode under control.</a:t>
            </a:r>
            <a:endParaRPr lang="en-US" sz="19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8229600" cy="640080"/>
          </a:xfrm>
          <a:prstGeom prst="rect">
            <a:avLst/>
          </a:prstGeom>
          <a:noFill/>
        </p:spPr>
        <p:txBody>
          <a:bodyPr wrap="none" lIns="0" rIns="0" tIns="0" bIns="0">
            <a:spAutoFit/>
          </a:bodyPr>
          <a:lstStyle/>
          <a:p>
            <a:pPr algn="l"/>
            <a:r>
              <a:rPr sz="2400" b="1">
                <a:solidFill>
                  <a:srgbClr val="1F3864"/>
                </a:solidFill>
                <a:latin typeface="Calibri"/>
              </a:rPr>
              <a:t>Figure 12.1 — The twelve agent anti-patterns</a:t>
            </a:r>
          </a:p>
        </p:txBody>
      </p:sp>
      <p:pic>
        <p:nvPicPr>
          <p:cNvPr id="3" name="Picture 2" descr="e33818db5d09e22ddf22002f0ef4aceac225bd0f.png"/>
          <p:cNvPicPr>
            <a:picLocks noChangeAspect="1"/>
          </p:cNvPicPr>
          <p:nvPr/>
        </p:nvPicPr>
        <p:blipFill>
          <a:blip r:embed="rId2"/>
          <a:stretch>
            <a:fillRect/>
          </a:stretch>
        </p:blipFill>
        <p:spPr>
          <a:xfrm>
            <a:off x="2150120" y="1280160"/>
            <a:ext cx="4843759" cy="3314700"/>
          </a:xfrm>
          <a:prstGeom prst="rect">
            <a:avLst/>
          </a:prstGeom>
        </p:spPr>
      </p:pic>
      <p:sp>
        <p:nvSpPr>
          <p:cNvPr id="4" name="TextBox 3"/>
          <p:cNvSpPr txBox="1"/>
          <p:nvPr/>
        </p:nvSpPr>
        <p:spPr>
          <a:xfrm>
            <a:off x="457200" y="4686300"/>
            <a:ext cx="8229600" cy="274320"/>
          </a:xfrm>
          <a:prstGeom prst="rect">
            <a:avLst/>
          </a:prstGeom>
          <a:noFill/>
        </p:spPr>
        <p:txBody>
          <a:bodyPr wrap="none" lIns="0" rIns="0" tIns="0" bIns="0">
            <a:spAutoFit/>
          </a:bodyPr>
          <a:lstStyle/>
          <a:p>
            <a:pPr algn="ctr"/>
            <a:r>
              <a:rPr sz="1100" i="1">
                <a:solidFill>
                  <a:srgbClr val="6E7E94"/>
                </a:solidFill>
                <a:latin typeface="Calibri"/>
              </a:rPr>
              <a:t>AI-Driven SDLC — A Federated Framework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 Anti-Patterns</dc:title>
  <dc:subject>PptxGenJS Presentation</dc:subject>
  <dc:creator>Anthropic</dc:creator>
  <cp:lastModifiedBy>Anthropic</cp:lastModifiedBy>
  <cp:revision>1</cp:revision>
  <dcterms:created xsi:type="dcterms:W3CDTF">2026-05-03T17:33:03Z</dcterms:created>
  <dcterms:modified xsi:type="dcterms:W3CDTF">2026-05-03T17:33:03Z</dcterms:modified>
</cp:coreProperties>
</file>