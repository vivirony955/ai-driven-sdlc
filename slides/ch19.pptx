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4" r:id="rId15"/>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4A"/>
        </a:solidFill>
      </p:bgPr>
    </p:bg>
    <p:spTree>
      <p:nvGrpSpPr>
        <p:cNvPr id="1" name=""/>
        <p:cNvGrpSpPr/>
        <p:nvPr/>
      </p:nvGrpSpPr>
      <p:grpSpPr>
        <a:xfrm>
          <a:off x="0" y="0"/>
          <a:ext cx="0" cy="0"/>
          <a:chOff x="0" y="0"/>
          <a:chExt cx="0" cy="0"/>
        </a:xfrm>
      </p:grpSpPr>
      <p:sp>
        <p:nvSpPr>
          <p:cNvPr id="2" name="Shape 0"/>
          <p:cNvSpPr/>
          <p:nvPr/>
        </p:nvSpPr>
        <p:spPr>
          <a:xfrm>
            <a:off x="914400" y="1463040"/>
            <a:ext cx="7315200" cy="36576"/>
          </a:xfrm>
          <a:prstGeom prst="rect">
            <a:avLst/>
          </a:prstGeom>
          <a:solidFill>
            <a:srgbClr val="14635F"/>
          </a:solidFill>
          <a:ln w="12700">
            <a:solidFill>
              <a:srgbClr val="14635F"/>
            </a:solidFill>
            <a:prstDash val="solid"/>
          </a:ln>
        </p:spPr>
      </p:sp>
      <p:sp>
        <p:nvSpPr>
          <p:cNvPr id="3" name="Text 1"/>
          <p:cNvSpPr/>
          <p:nvPr/>
        </p:nvSpPr>
        <p:spPr>
          <a:xfrm>
            <a:off x="457200" y="914400"/>
            <a:ext cx="8229600" cy="457200"/>
          </a:xfrm>
          <a:prstGeom prst="rect">
            <a:avLst/>
          </a:prstGeom>
          <a:noFill/>
          <a:ln/>
        </p:spPr>
        <p:txBody>
          <a:bodyPr wrap="square" rtlCol="0" anchor="ctr"/>
          <a:lstStyle/>
          <a:p>
            <a:pPr algn="ctr" indent="0" marL="0">
              <a:buNone/>
            </a:pPr>
            <a:r>
              <a:rPr lang="en-US" sz="1800" b="1" spc="400" kern="0" dirty="0">
                <a:solidFill>
                  <a:srgbClr val="93C5C2"/>
                </a:solidFill>
                <a:latin typeface="Calibri" pitchFamily="34" charset="0"/>
                <a:ea typeface="Calibri" pitchFamily="34" charset="-122"/>
                <a:cs typeface="Calibri" pitchFamily="34" charset="-120"/>
              </a:rPr>
              <a:t>Chapter 19</a:t>
            </a:r>
            <a:endParaRPr lang="en-US" sz="1800" dirty="0"/>
          </a:p>
        </p:txBody>
      </p:sp>
      <p:sp>
        <p:nvSpPr>
          <p:cNvPr id="4" name="Text 2"/>
          <p:cNvSpPr/>
          <p:nvPr/>
        </p:nvSpPr>
        <p:spPr>
          <a:xfrm>
            <a:off x="457200" y="1828800"/>
            <a:ext cx="8229600" cy="1463040"/>
          </a:xfrm>
          <a:prstGeom prst="rect">
            <a:avLst/>
          </a:prstGeom>
          <a:noFill/>
          <a:ln/>
        </p:spPr>
        <p:txBody>
          <a:bodyPr wrap="square" rtlCol="0" anchor="t"/>
          <a:lstStyle/>
          <a:p>
            <a:pPr algn="ctr" indent="0" marL="0">
              <a:buNone/>
            </a:pPr>
            <a:r>
              <a:rPr lang="en-US" sz="4400" b="1" dirty="0">
                <a:solidFill>
                  <a:srgbClr val="FFFFFF"/>
                </a:solidFill>
                <a:latin typeface="Calibri" pitchFamily="34" charset="0"/>
                <a:ea typeface="Calibri" pitchFamily="34" charset="-122"/>
                <a:cs typeface="Calibri" pitchFamily="34" charset="-120"/>
              </a:rPr>
              <a:t>Maturity Model</a:t>
            </a:r>
            <a:endParaRPr lang="en-US" sz="4400" dirty="0"/>
          </a:p>
        </p:txBody>
      </p:sp>
      <p:sp>
        <p:nvSpPr>
          <p:cNvPr id="5" name="Text 3"/>
          <p:cNvSpPr/>
          <p:nvPr/>
        </p:nvSpPr>
        <p:spPr>
          <a:xfrm>
            <a:off x="457200" y="4023360"/>
            <a:ext cx="8229600" cy="457200"/>
          </a:xfrm>
          <a:prstGeom prst="rect">
            <a:avLst/>
          </a:prstGeom>
          <a:noFill/>
          <a:ln/>
        </p:spPr>
        <p:txBody>
          <a:bodyPr wrap="square" rtlCol="0" anchor="ctr"/>
          <a:lstStyle/>
          <a:p>
            <a:pPr algn="ctr" indent="0" marL="0">
              <a:buNone/>
            </a:pPr>
            <a:r>
              <a:rPr lang="en-US" sz="1600" i="1" dirty="0">
                <a:solidFill>
                  <a:srgbClr val="B8C2D6"/>
                </a:solidFill>
                <a:latin typeface="Calibri" pitchFamily="34" charset="0"/>
                <a:ea typeface="Calibri" pitchFamily="34" charset="-122"/>
                <a:cs typeface="Calibri" pitchFamily="34" charset="-120"/>
              </a:rPr>
              <a:t>Part V — Operating the System</a:t>
            </a:r>
            <a:endParaRPr lang="en-US" sz="1600" dirty="0"/>
          </a:p>
        </p:txBody>
      </p:sp>
      <p:sp>
        <p:nvSpPr>
          <p:cNvPr id="6" name="Text 4"/>
          <p:cNvSpPr/>
          <p:nvPr/>
        </p:nvSpPr>
        <p:spPr>
          <a:xfrm>
            <a:off x="457200" y="4663440"/>
            <a:ext cx="8229600" cy="365760"/>
          </a:xfrm>
          <a:prstGeom prst="rect">
            <a:avLst/>
          </a:prstGeom>
          <a:noFill/>
          <a:ln/>
        </p:spPr>
        <p:txBody>
          <a:bodyPr wrap="square" rtlCol="0" anchor="ctr"/>
          <a:lstStyle/>
          <a:p>
            <a:pPr algn="ctr" indent="0" marL="0">
              <a:buNone/>
            </a:pPr>
            <a:r>
              <a:rPr lang="en-US" sz="1200" i="1" dirty="0">
                <a:solidFill>
                  <a:srgbClr val="6E7E94"/>
                </a:solidFill>
                <a:latin typeface="Calibri" pitchFamily="34" charset="0"/>
                <a:ea typeface="Calibri" pitchFamily="34" charset="-122"/>
                <a:cs typeface="Calibri" pitchFamily="34" charset="-120"/>
              </a:rPr>
              <a:t>AI-Driven SDLC — A Federated Framework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algn="l" indent="0" marL="0">
              <a:buNone/>
            </a:pPr>
            <a:r>
              <a:rPr lang="en-US" sz="3200" b="1" dirty="0">
                <a:solidFill>
                  <a:srgbClr val="1F3864"/>
                </a:solidFill>
                <a:latin typeface="Calibri" pitchFamily="34" charset="0"/>
                <a:ea typeface="Calibri" pitchFamily="34" charset="-122"/>
                <a:cs typeface="Calibri" pitchFamily="34" charset="-120"/>
              </a:rPr>
              <a:t>Learning Objectives</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6E6E6E"/>
                </a:solidFill>
                <a:latin typeface="Calibri" pitchFamily="34" charset="0"/>
                <a:ea typeface="Calibri" pitchFamily="34" charset="-122"/>
                <a:cs typeface="Calibri" pitchFamily="34" charset="-120"/>
              </a:rPr>
              <a:t>Chapter 19 — Maturity Model</a:t>
            </a:r>
            <a:endParaRPr lang="en-US" sz="1400" dirty="0"/>
          </a:p>
        </p:txBody>
      </p:sp>
      <p:sp>
        <p:nvSpPr>
          <p:cNvPr id="4" name="Text 2"/>
          <p:cNvSpPr/>
          <p:nvPr/>
        </p:nvSpPr>
        <p:spPr>
          <a:xfrm>
            <a:off x="640080" y="1554480"/>
            <a:ext cx="7863840" cy="338328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Identify the five maturity levels: Ad Hoc, Shared Practice, Codified, Federated, Adaptive</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Honestly assess a team's current level</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Sequence adoption rather than attempting all levels at once</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Recognize what the team has stopped being willing to skip as the indicator of progress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Five Levels</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19</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Level 1 (Ad Hoc): each engineer does it differently</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Level 2 (Shared Practice): team conventions, undocumented</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Level 3 (Codified): conventions documented, mostly followed</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Level 4 (Federated): disciplines practiced reflexively, no exceptions tolerated</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Level 5 (Adaptive): the team improves the framework itself</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Honest Assessment</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19</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Most teams overestimate their level by one</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Having artifacts in place is necessary but not sufficient for Level 4</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 honest test: are disciplines practiced reflexively, or only when convenient?</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Mixed-level teams are common: Level 4 on tracker, Level 2 on cost telemetry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Sequenced Adoption</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19</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Big-bang adoption produces partial completion of every discipline, none fully landed</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Phases exist because each output is the next phase's input</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Memory artifacts before the tracker; tracker before Auditor; Auditor before approval gates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Trying to do them in parallel produces a process nobody owns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The Progress Indicator</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19</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Not what new tools have been added</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What the team has stopped being willing to skip</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 stop-skipping indicator captures whether discipline is reflexive</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Tools without stopped-skipping is theater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2E5"/>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9C5A14"/>
                </a:solidFill>
                <a:latin typeface="Calibri" pitchFamily="34" charset="0"/>
                <a:ea typeface="Calibri" pitchFamily="34" charset="-122"/>
                <a:cs typeface="Calibri" pitchFamily="34" charset="-120"/>
              </a:rPr>
              <a:t>Common Mistakes</a:t>
            </a:r>
            <a:endParaRPr lang="en-US" sz="28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300" i="1" dirty="0">
                <a:solidFill>
                  <a:srgbClr val="7C4910"/>
                </a:solidFill>
                <a:latin typeface="Calibri" pitchFamily="34" charset="0"/>
                <a:ea typeface="Calibri" pitchFamily="34" charset="-122"/>
                <a:cs typeface="Calibri" pitchFamily="34" charset="-120"/>
              </a:rPr>
              <a:t>Chapter 19 — patterns that look reasonable and aren't</a:t>
            </a:r>
            <a:endParaRPr lang="en-US" sz="1300" dirty="0"/>
          </a:p>
        </p:txBody>
      </p:sp>
      <p:sp>
        <p:nvSpPr>
          <p:cNvPr id="4" name="Text 2"/>
          <p:cNvSpPr/>
          <p:nvPr/>
        </p:nvSpPr>
        <p:spPr>
          <a:xfrm>
            <a:off x="640080" y="1554480"/>
            <a:ext cx="7863840" cy="320040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Adopting all five levels in one quarter</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Buying the tooling before doing the discipline</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Calling yourself Level 4 because the artifacts exist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2F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3200" b="1" dirty="0">
                <a:solidFill>
                  <a:srgbClr val="14635F"/>
                </a:solidFill>
                <a:latin typeface="Calibri" pitchFamily="34" charset="0"/>
                <a:ea typeface="Calibri" pitchFamily="34" charset="-122"/>
                <a:cs typeface="Calibri" pitchFamily="34" charset="-120"/>
              </a:rPr>
              <a:t>Takeaway</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0E4D49"/>
                </a:solidFill>
                <a:latin typeface="Calibri" pitchFamily="34" charset="0"/>
                <a:ea typeface="Calibri" pitchFamily="34" charset="-122"/>
                <a:cs typeface="Calibri" pitchFamily="34" charset="-120"/>
              </a:rPr>
              <a:t>Chapter 19 — Maturity Model</a:t>
            </a:r>
            <a:endParaRPr lang="en-US" sz="1400" dirty="0"/>
          </a:p>
        </p:txBody>
      </p:sp>
      <p:sp>
        <p:nvSpPr>
          <p:cNvPr id="4" name="Text 2"/>
          <p:cNvSpPr/>
          <p:nvPr/>
        </p:nvSpPr>
        <p:spPr>
          <a:xfrm>
            <a:off x="640080" y="1645920"/>
            <a:ext cx="7863840" cy="3108960"/>
          </a:xfrm>
          <a:prstGeom prst="rect">
            <a:avLst/>
          </a:prstGeom>
          <a:noFill/>
          <a:ln/>
        </p:spPr>
        <p:txBody>
          <a:bodyPr wrap="square" rtlCol="0" anchor="t"/>
          <a:lstStyle/>
          <a:p>
            <a:pPr algn="l" indent="0" marL="0">
              <a:spcAft>
                <a:spcPts val="1200"/>
              </a:spcAft>
              <a:buNone/>
            </a:pPr>
            <a:r>
              <a:rPr lang="en-US" sz="1900" dirty="0">
                <a:solidFill>
                  <a:srgbClr val="333333"/>
                </a:solidFill>
                <a:latin typeface="Calibri" pitchFamily="34" charset="0"/>
                <a:ea typeface="Calibri" pitchFamily="34" charset="-122"/>
                <a:cs typeface="Calibri" pitchFamily="34" charset="-120"/>
              </a:rPr>
              <a:t>Five levels: ad hoc, shared practice, codified, federated, adaptive. Most teams travel them in roughly that order. Adoption needs to be sequenced. The most reliable indicator of progress is what the team has stopped being willing to skip.</a:t>
            </a:r>
            <a:endParaRPr lang="en-US" sz="19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640080"/>
          </a:xfrm>
          <a:prstGeom prst="rect">
            <a:avLst/>
          </a:prstGeom>
          <a:noFill/>
        </p:spPr>
        <p:txBody>
          <a:bodyPr wrap="none" lIns="0" rIns="0" tIns="0" bIns="0">
            <a:spAutoFit/>
          </a:bodyPr>
          <a:lstStyle/>
          <a:p>
            <a:pPr algn="l"/>
            <a:r>
              <a:rPr sz="2400" b="1">
                <a:solidFill>
                  <a:srgbClr val="1F3864"/>
                </a:solidFill>
                <a:latin typeface="Calibri"/>
              </a:rPr>
              <a:t>Figure 19.1 — The five maturity levels</a:t>
            </a:r>
          </a:p>
        </p:txBody>
      </p:sp>
      <p:pic>
        <p:nvPicPr>
          <p:cNvPr id="3" name="Picture 2" descr="c13e90e78eb1e3e75e7becf47f28b37da3244809.png"/>
          <p:cNvPicPr>
            <a:picLocks noChangeAspect="1"/>
          </p:cNvPicPr>
          <p:nvPr/>
        </p:nvPicPr>
        <p:blipFill>
          <a:blip r:embed="rId2"/>
          <a:stretch>
            <a:fillRect/>
          </a:stretch>
        </p:blipFill>
        <p:spPr>
          <a:xfrm>
            <a:off x="2204634" y="1280160"/>
            <a:ext cx="4734732" cy="3314700"/>
          </a:xfrm>
          <a:prstGeom prst="rect">
            <a:avLst/>
          </a:prstGeom>
        </p:spPr>
      </p:pic>
      <p:sp>
        <p:nvSpPr>
          <p:cNvPr id="4" name="TextBox 3"/>
          <p:cNvSpPr txBox="1"/>
          <p:nvPr/>
        </p:nvSpPr>
        <p:spPr>
          <a:xfrm>
            <a:off x="457200" y="4686300"/>
            <a:ext cx="8229600" cy="274320"/>
          </a:xfrm>
          <a:prstGeom prst="rect">
            <a:avLst/>
          </a:prstGeom>
          <a:noFill/>
        </p:spPr>
        <p:txBody>
          <a:bodyPr wrap="none" lIns="0" rIns="0" tIns="0" bIns="0">
            <a:spAutoFit/>
          </a:bodyPr>
          <a:lstStyle/>
          <a:p>
            <a:pPr algn="ctr"/>
            <a:r>
              <a:rPr sz="1100" i="1">
                <a:solidFill>
                  <a:srgbClr val="6E7E94"/>
                </a:solidFill>
                <a:latin typeface="Calibri"/>
              </a:rPr>
              <a:t>AI-Driven SDLC — A Federated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 Maturity Model</dc:title>
  <dc:subject>PptxGenJS Presentation</dc:subject>
  <dc:creator>Anthropic</dc:creator>
  <cp:lastModifiedBy>Anthropic</cp:lastModifiedBy>
  <cp:revision>1</cp:revision>
  <dcterms:created xsi:type="dcterms:W3CDTF">2026-05-03T17:33:03Z</dcterms:created>
  <dcterms:modified xsi:type="dcterms:W3CDTF">2026-05-03T17:33:03Z</dcterms:modified>
</cp:coreProperties>
</file>