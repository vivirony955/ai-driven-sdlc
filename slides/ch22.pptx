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64A"/>
        </a:solidFill>
      </p:bgPr>
    </p:bg>
    <p:spTree>
      <p:nvGrpSpPr>
        <p:cNvPr id="1" name=""/>
        <p:cNvGrpSpPr/>
        <p:nvPr/>
      </p:nvGrpSpPr>
      <p:grpSpPr>
        <a:xfrm>
          <a:off x="0" y="0"/>
          <a:ext cx="0" cy="0"/>
          <a:chOff x="0" y="0"/>
          <a:chExt cx="0" cy="0"/>
        </a:xfrm>
      </p:grpSpPr>
      <p:sp>
        <p:nvSpPr>
          <p:cNvPr id="2" name="Shape 0"/>
          <p:cNvSpPr/>
          <p:nvPr/>
        </p:nvSpPr>
        <p:spPr>
          <a:xfrm>
            <a:off x="914400" y="1463040"/>
            <a:ext cx="7315200" cy="36576"/>
          </a:xfrm>
          <a:prstGeom prst="rect">
            <a:avLst/>
          </a:prstGeom>
          <a:solidFill>
            <a:srgbClr val="14635F"/>
          </a:solidFill>
          <a:ln w="12700">
            <a:solidFill>
              <a:srgbClr val="14635F"/>
            </a:solidFill>
            <a:prstDash val="solid"/>
          </a:ln>
        </p:spPr>
      </p:sp>
      <p:sp>
        <p:nvSpPr>
          <p:cNvPr id="3" name="Text 1"/>
          <p:cNvSpPr/>
          <p:nvPr/>
        </p:nvSpPr>
        <p:spPr>
          <a:xfrm>
            <a:off x="457200" y="914400"/>
            <a:ext cx="8229600" cy="457200"/>
          </a:xfrm>
          <a:prstGeom prst="rect">
            <a:avLst/>
          </a:prstGeom>
          <a:noFill/>
          <a:ln/>
        </p:spPr>
        <p:txBody>
          <a:bodyPr wrap="square" rtlCol="0" anchor="ctr"/>
          <a:lstStyle/>
          <a:p>
            <a:pPr algn="ctr" indent="0" marL="0">
              <a:buNone/>
            </a:pPr>
            <a:r>
              <a:rPr lang="en-US" sz="1800" b="1" spc="400" kern="0" dirty="0">
                <a:solidFill>
                  <a:srgbClr val="93C5C2"/>
                </a:solidFill>
                <a:latin typeface="Calibri" pitchFamily="34" charset="0"/>
                <a:ea typeface="Calibri" pitchFamily="34" charset="-122"/>
                <a:cs typeface="Calibri" pitchFamily="34" charset="-120"/>
              </a:rPr>
              <a:t>Chapter 22</a:t>
            </a:r>
            <a:endParaRPr lang="en-US" sz="1800" dirty="0"/>
          </a:p>
        </p:txBody>
      </p:sp>
      <p:sp>
        <p:nvSpPr>
          <p:cNvPr id="4" name="Text 2"/>
          <p:cNvSpPr/>
          <p:nvPr/>
        </p:nvSpPr>
        <p:spPr>
          <a:xfrm>
            <a:off x="457200" y="1828800"/>
            <a:ext cx="8229600" cy="1463040"/>
          </a:xfrm>
          <a:prstGeom prst="rect">
            <a:avLst/>
          </a:prstGeom>
          <a:noFill/>
          <a:ln/>
        </p:spPr>
        <p:txBody>
          <a:bodyPr wrap="square" rtlCol="0" anchor="t"/>
          <a:lstStyle/>
          <a:p>
            <a:pPr algn="ctr" indent="0" marL="0">
              <a:buNone/>
            </a:pPr>
            <a:r>
              <a:rPr lang="en-US" sz="4400" b="1" dirty="0">
                <a:solidFill>
                  <a:srgbClr val="FFFFFF"/>
                </a:solidFill>
                <a:latin typeface="Calibri" pitchFamily="34" charset="0"/>
                <a:ea typeface="Calibri" pitchFamily="34" charset="-122"/>
                <a:cs typeface="Calibri" pitchFamily="34" charset="-120"/>
              </a:rPr>
              <a:t>Limitations</a:t>
            </a:r>
            <a:endParaRPr lang="en-US" sz="4400" dirty="0"/>
          </a:p>
        </p:txBody>
      </p:sp>
      <p:sp>
        <p:nvSpPr>
          <p:cNvPr id="5" name="Text 3"/>
          <p:cNvSpPr/>
          <p:nvPr/>
        </p:nvSpPr>
        <p:spPr>
          <a:xfrm>
            <a:off x="457200" y="4023360"/>
            <a:ext cx="8229600" cy="457200"/>
          </a:xfrm>
          <a:prstGeom prst="rect">
            <a:avLst/>
          </a:prstGeom>
          <a:noFill/>
          <a:ln/>
        </p:spPr>
        <p:txBody>
          <a:bodyPr wrap="square" rtlCol="0" anchor="ctr"/>
          <a:lstStyle/>
          <a:p>
            <a:pPr algn="ctr" indent="0" marL="0">
              <a:buNone/>
            </a:pPr>
            <a:r>
              <a:rPr lang="en-US" sz="1600" i="1" dirty="0">
                <a:solidFill>
                  <a:srgbClr val="B8C2D6"/>
                </a:solidFill>
                <a:latin typeface="Calibri" pitchFamily="34" charset="0"/>
                <a:ea typeface="Calibri" pitchFamily="34" charset="-122"/>
                <a:cs typeface="Calibri" pitchFamily="34" charset="-120"/>
              </a:rPr>
              <a:t>Part VI — Reflection</a:t>
            </a:r>
            <a:endParaRPr lang="en-US" sz="1600" dirty="0"/>
          </a:p>
        </p:txBody>
      </p:sp>
      <p:sp>
        <p:nvSpPr>
          <p:cNvPr id="6" name="Text 4"/>
          <p:cNvSpPr/>
          <p:nvPr/>
        </p:nvSpPr>
        <p:spPr>
          <a:xfrm>
            <a:off x="457200" y="4663440"/>
            <a:ext cx="8229600" cy="365760"/>
          </a:xfrm>
          <a:prstGeom prst="rect">
            <a:avLst/>
          </a:prstGeom>
          <a:noFill/>
          <a:ln/>
        </p:spPr>
        <p:txBody>
          <a:bodyPr wrap="square" rtlCol="0" anchor="ctr"/>
          <a:lstStyle/>
          <a:p>
            <a:pPr algn="ctr" indent="0" marL="0">
              <a:buNone/>
            </a:pPr>
            <a:r>
              <a:rPr lang="en-US" sz="1200" i="1" dirty="0">
                <a:solidFill>
                  <a:srgbClr val="6E7E94"/>
                </a:solidFill>
                <a:latin typeface="Calibri" pitchFamily="34" charset="0"/>
                <a:ea typeface="Calibri" pitchFamily="34" charset="-122"/>
                <a:cs typeface="Calibri" pitchFamily="34" charset="-120"/>
              </a:rPr>
              <a:t>AI-Driven SDLC — A Federated Framework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algn="l" indent="0" marL="0">
              <a:buNone/>
            </a:pPr>
            <a:r>
              <a:rPr lang="en-US" sz="3200" b="1" dirty="0">
                <a:solidFill>
                  <a:srgbClr val="1F3864"/>
                </a:solidFill>
                <a:latin typeface="Calibri" pitchFamily="34" charset="0"/>
                <a:ea typeface="Calibri" pitchFamily="34" charset="-122"/>
                <a:cs typeface="Calibri" pitchFamily="34" charset="-120"/>
              </a:rPr>
              <a:t>Learning Objectives</a:t>
            </a:r>
            <a:endParaRPr lang="en-US" sz="3200" dirty="0"/>
          </a:p>
        </p:txBody>
      </p:sp>
      <p:sp>
        <p:nvSpPr>
          <p:cNvPr id="3" name="Text 1"/>
          <p:cNvSpPr/>
          <p:nvPr/>
        </p:nvSpPr>
        <p:spPr>
          <a:xfrm>
            <a:off x="457200" y="960120"/>
            <a:ext cx="8229600" cy="365760"/>
          </a:xfrm>
          <a:prstGeom prst="rect">
            <a:avLst/>
          </a:prstGeom>
          <a:noFill/>
          <a:ln/>
        </p:spPr>
        <p:txBody>
          <a:bodyPr wrap="square" rtlCol="0" anchor="ctr"/>
          <a:lstStyle/>
          <a:p>
            <a:pPr algn="l" indent="0" marL="0">
              <a:buNone/>
            </a:pPr>
            <a:r>
              <a:rPr lang="en-US" sz="1400" i="1" dirty="0">
                <a:solidFill>
                  <a:srgbClr val="6E6E6E"/>
                </a:solidFill>
                <a:latin typeface="Calibri" pitchFamily="34" charset="0"/>
                <a:ea typeface="Calibri" pitchFamily="34" charset="-122"/>
                <a:cs typeface="Calibri" pitchFamily="34" charset="-120"/>
              </a:rPr>
              <a:t>Chapter 22 — Limitations</a:t>
            </a:r>
            <a:endParaRPr lang="en-US" sz="1400" dirty="0"/>
          </a:p>
        </p:txBody>
      </p:sp>
      <p:sp>
        <p:nvSpPr>
          <p:cNvPr id="4" name="Text 2"/>
          <p:cNvSpPr/>
          <p:nvPr/>
        </p:nvSpPr>
        <p:spPr>
          <a:xfrm>
            <a:off x="640080" y="1554480"/>
            <a:ext cx="7863840" cy="3383280"/>
          </a:xfrm>
          <a:prstGeom prst="rect">
            <a:avLst/>
          </a:prstGeom>
          <a:noFill/>
          <a:ln/>
        </p:spPr>
        <p:txBody>
          <a:bodyPr wrap="square" rtlCol="0" anchor="t"/>
          <a:lstStyle/>
          <a:p>
            <a:pPr marL="342900" indent="-342900">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State the framework's honest limits without overclaiming or underclaiming</a:t>
            </a:r>
            <a:endParaRPr lang="en-US" sz="1700" dirty="0"/>
          </a:p>
          <a:p>
            <a:pPr marL="342900" indent="-342900">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Distinguish what the framework reduces from what it eliminates</a:t>
            </a:r>
            <a:endParaRPr lang="en-US" sz="1700" dirty="0"/>
          </a:p>
          <a:p>
            <a:pPr marL="342900" indent="-342900">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Recognize the conditions under which the framework cannot help (organizational misalignment, regulatory ambiguity, cultural resistance)</a:t>
            </a:r>
            <a:endParaRPr lang="en-US" sz="1700" dirty="0"/>
          </a:p>
          <a:p>
            <a:pPr marL="342900" indent="-342900">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Communicate limits honestly to stakeholders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algn="l" indent="0" marL="0">
              <a:buNone/>
            </a:pPr>
            <a:r>
              <a:rPr lang="en-US" sz="2800" b="1" dirty="0">
                <a:solidFill>
                  <a:srgbClr val="1F3864"/>
                </a:solidFill>
                <a:latin typeface="Calibri" pitchFamily="34" charset="0"/>
                <a:ea typeface="Calibri" pitchFamily="34" charset="-122"/>
                <a:cs typeface="Calibri" pitchFamily="34" charset="-120"/>
              </a:rPr>
              <a:t>What the Framework Promises</a:t>
            </a:r>
            <a:endParaRPr lang="en-US" sz="2800" dirty="0"/>
          </a:p>
        </p:txBody>
      </p:sp>
      <p:sp>
        <p:nvSpPr>
          <p:cNvPr id="3" name="Text 1"/>
          <p:cNvSpPr/>
          <p:nvPr/>
        </p:nvSpPr>
        <p:spPr>
          <a:xfrm>
            <a:off x="6583680" y="411480"/>
            <a:ext cx="2103120" cy="365760"/>
          </a:xfrm>
          <a:prstGeom prst="rect">
            <a:avLst/>
          </a:prstGeom>
          <a:noFill/>
          <a:ln/>
        </p:spPr>
        <p:txBody>
          <a:bodyPr wrap="square" rtlCol="0" anchor="ctr"/>
          <a:lstStyle/>
          <a:p>
            <a:pPr algn="r" indent="0" marL="0">
              <a:buNone/>
            </a:pPr>
            <a:r>
              <a:rPr lang="en-US" sz="1200" i="1" dirty="0">
                <a:solidFill>
                  <a:srgbClr val="6E6E6E"/>
                </a:solidFill>
                <a:latin typeface="Calibri" pitchFamily="34" charset="0"/>
                <a:ea typeface="Calibri" pitchFamily="34" charset="-122"/>
                <a:cs typeface="Calibri" pitchFamily="34" charset="-120"/>
              </a:rPr>
              <a:t>Chapter 22</a:t>
            </a:r>
            <a:endParaRPr lang="en-US" sz="1200" dirty="0"/>
          </a:p>
        </p:txBody>
      </p:sp>
      <p:sp>
        <p:nvSpPr>
          <p:cNvPr id="4" name="Text 2"/>
          <p:cNvSpPr/>
          <p:nvPr/>
        </p:nvSpPr>
        <p:spPr>
          <a:xfrm>
            <a:off x="640080" y="1280160"/>
            <a:ext cx="7863840" cy="3657600"/>
          </a:xfrm>
          <a:prstGeom prst="rect">
            <a:avLst/>
          </a:prstGeom>
          <a:noFill/>
          <a:ln/>
        </p:spPr>
        <p:txBody>
          <a:bodyPr wrap="square" rtlCol="0" anchor="t"/>
          <a:lstStyle/>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Reduced failure rates</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Faster recovery from incidents</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Incidents that are easier to explain in postmortem</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Audit responses reachable in minutes rather than days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algn="l" indent="0" marL="0">
              <a:buNone/>
            </a:pPr>
            <a:r>
              <a:rPr lang="en-US" sz="2800" b="1" dirty="0">
                <a:solidFill>
                  <a:srgbClr val="1F3864"/>
                </a:solidFill>
                <a:latin typeface="Calibri" pitchFamily="34" charset="0"/>
                <a:ea typeface="Calibri" pitchFamily="34" charset="-122"/>
                <a:cs typeface="Calibri" pitchFamily="34" charset="-120"/>
              </a:rPr>
              <a:t>What the Framework Does Not Promise</a:t>
            </a:r>
            <a:endParaRPr lang="en-US" sz="2800" dirty="0"/>
          </a:p>
        </p:txBody>
      </p:sp>
      <p:sp>
        <p:nvSpPr>
          <p:cNvPr id="3" name="Text 1"/>
          <p:cNvSpPr/>
          <p:nvPr/>
        </p:nvSpPr>
        <p:spPr>
          <a:xfrm>
            <a:off x="6583680" y="411480"/>
            <a:ext cx="2103120" cy="365760"/>
          </a:xfrm>
          <a:prstGeom prst="rect">
            <a:avLst/>
          </a:prstGeom>
          <a:noFill/>
          <a:ln/>
        </p:spPr>
        <p:txBody>
          <a:bodyPr wrap="square" rtlCol="0" anchor="ctr"/>
          <a:lstStyle/>
          <a:p>
            <a:pPr algn="r" indent="0" marL="0">
              <a:buNone/>
            </a:pPr>
            <a:r>
              <a:rPr lang="en-US" sz="1200" i="1" dirty="0">
                <a:solidFill>
                  <a:srgbClr val="6E6E6E"/>
                </a:solidFill>
                <a:latin typeface="Calibri" pitchFamily="34" charset="0"/>
                <a:ea typeface="Calibri" pitchFamily="34" charset="-122"/>
                <a:cs typeface="Calibri" pitchFamily="34" charset="-120"/>
              </a:rPr>
              <a:t>Chapter 22</a:t>
            </a:r>
            <a:endParaRPr lang="en-US" sz="1200" dirty="0"/>
          </a:p>
        </p:txBody>
      </p:sp>
      <p:sp>
        <p:nvSpPr>
          <p:cNvPr id="4" name="Text 2"/>
          <p:cNvSpPr/>
          <p:nvPr/>
        </p:nvSpPr>
        <p:spPr>
          <a:xfrm>
            <a:off x="640080" y="1280160"/>
            <a:ext cx="7863840" cy="3657600"/>
          </a:xfrm>
          <a:prstGeom prst="rect">
            <a:avLst/>
          </a:prstGeom>
          <a:noFill/>
          <a:ln/>
        </p:spPr>
        <p:txBody>
          <a:bodyPr wrap="square" rtlCol="0" anchor="t"/>
          <a:lstStyle/>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Zero failures: no framework can promise this</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Resolution of organizational dysfunction: the framework operates within organizations, not above them</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Regulatory compliance certainty: structures help, but ambiguity is ambiguity</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Cultural buy-in: the framework requires it, can't manufacture it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algn="l" indent="0" marL="0">
              <a:buNone/>
            </a:pPr>
            <a:r>
              <a:rPr lang="en-US" sz="2800" b="1" dirty="0">
                <a:solidFill>
                  <a:srgbClr val="1F3864"/>
                </a:solidFill>
                <a:latin typeface="Calibri" pitchFamily="34" charset="0"/>
                <a:ea typeface="Calibri" pitchFamily="34" charset="-122"/>
                <a:cs typeface="Calibri" pitchFamily="34" charset="-120"/>
              </a:rPr>
              <a:t>Where the Framework Cannot Help</a:t>
            </a:r>
            <a:endParaRPr lang="en-US" sz="2800" dirty="0"/>
          </a:p>
        </p:txBody>
      </p:sp>
      <p:sp>
        <p:nvSpPr>
          <p:cNvPr id="3" name="Text 1"/>
          <p:cNvSpPr/>
          <p:nvPr/>
        </p:nvSpPr>
        <p:spPr>
          <a:xfrm>
            <a:off x="6583680" y="411480"/>
            <a:ext cx="2103120" cy="365760"/>
          </a:xfrm>
          <a:prstGeom prst="rect">
            <a:avLst/>
          </a:prstGeom>
          <a:noFill/>
          <a:ln/>
        </p:spPr>
        <p:txBody>
          <a:bodyPr wrap="square" rtlCol="0" anchor="ctr"/>
          <a:lstStyle/>
          <a:p>
            <a:pPr algn="r" indent="0" marL="0">
              <a:buNone/>
            </a:pPr>
            <a:r>
              <a:rPr lang="en-US" sz="1200" i="1" dirty="0">
                <a:solidFill>
                  <a:srgbClr val="6E6E6E"/>
                </a:solidFill>
                <a:latin typeface="Calibri" pitchFamily="34" charset="0"/>
                <a:ea typeface="Calibri" pitchFamily="34" charset="-122"/>
                <a:cs typeface="Calibri" pitchFamily="34" charset="-120"/>
              </a:rPr>
              <a:t>Chapter 22</a:t>
            </a:r>
            <a:endParaRPr lang="en-US" sz="1200" dirty="0"/>
          </a:p>
        </p:txBody>
      </p:sp>
      <p:sp>
        <p:nvSpPr>
          <p:cNvPr id="4" name="Text 2"/>
          <p:cNvSpPr/>
          <p:nvPr/>
        </p:nvSpPr>
        <p:spPr>
          <a:xfrm>
            <a:off x="640080" y="1280160"/>
            <a:ext cx="7863840" cy="3657600"/>
          </a:xfrm>
          <a:prstGeom prst="rect">
            <a:avLst/>
          </a:prstGeom>
          <a:noFill/>
          <a:ln/>
        </p:spPr>
        <p:txBody>
          <a:bodyPr wrap="square" rtlCol="0" anchor="t"/>
          <a:lstStyle/>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Organizational misalignment that prevents disciplined work</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Ambiguous regulation where compliance is itself unclear</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Cultural resistance from teams that don't want disciplined practice</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Acknowledging these limits directly is honest, not weak</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algn="l" indent="0" marL="0">
              <a:buNone/>
            </a:pPr>
            <a:r>
              <a:rPr lang="en-US" sz="2800" b="1" dirty="0">
                <a:solidFill>
                  <a:srgbClr val="1F3864"/>
                </a:solidFill>
                <a:latin typeface="Calibri" pitchFamily="34" charset="0"/>
                <a:ea typeface="Calibri" pitchFamily="34" charset="-122"/>
                <a:cs typeface="Calibri" pitchFamily="34" charset="-120"/>
              </a:rPr>
              <a:t>Honest Communication</a:t>
            </a:r>
            <a:endParaRPr lang="en-US" sz="2800" dirty="0"/>
          </a:p>
        </p:txBody>
      </p:sp>
      <p:sp>
        <p:nvSpPr>
          <p:cNvPr id="3" name="Text 1"/>
          <p:cNvSpPr/>
          <p:nvPr/>
        </p:nvSpPr>
        <p:spPr>
          <a:xfrm>
            <a:off x="6583680" y="411480"/>
            <a:ext cx="2103120" cy="365760"/>
          </a:xfrm>
          <a:prstGeom prst="rect">
            <a:avLst/>
          </a:prstGeom>
          <a:noFill/>
          <a:ln/>
        </p:spPr>
        <p:txBody>
          <a:bodyPr wrap="square" rtlCol="0" anchor="ctr"/>
          <a:lstStyle/>
          <a:p>
            <a:pPr algn="r" indent="0" marL="0">
              <a:buNone/>
            </a:pPr>
            <a:r>
              <a:rPr lang="en-US" sz="1200" i="1" dirty="0">
                <a:solidFill>
                  <a:srgbClr val="6E6E6E"/>
                </a:solidFill>
                <a:latin typeface="Calibri" pitchFamily="34" charset="0"/>
                <a:ea typeface="Calibri" pitchFamily="34" charset="-122"/>
                <a:cs typeface="Calibri" pitchFamily="34" charset="-120"/>
              </a:rPr>
              <a:t>Chapter 22</a:t>
            </a:r>
            <a:endParaRPr lang="en-US" sz="1200" dirty="0"/>
          </a:p>
        </p:txBody>
      </p:sp>
      <p:sp>
        <p:nvSpPr>
          <p:cNvPr id="4" name="Text 2"/>
          <p:cNvSpPr/>
          <p:nvPr/>
        </p:nvSpPr>
        <p:spPr>
          <a:xfrm>
            <a:off x="640080" y="1280160"/>
            <a:ext cx="7863840" cy="3657600"/>
          </a:xfrm>
          <a:prstGeom prst="rect">
            <a:avLst/>
          </a:prstGeom>
          <a:noFill/>
          <a:ln/>
        </p:spPr>
        <p:txBody>
          <a:bodyPr wrap="square" rtlCol="0" anchor="t"/>
          <a:lstStyle/>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Stakeholders who hear "no failures" lose trust faster when failures inevitably happen</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Documenting limits builds calibrated trust</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A team that publishes its constraints gets more accurate trust than a team that doesn't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2E5"/>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algn="l" indent="0" marL="0">
              <a:buNone/>
            </a:pPr>
            <a:r>
              <a:rPr lang="en-US" sz="2800" b="1" dirty="0">
                <a:solidFill>
                  <a:srgbClr val="9C5A14"/>
                </a:solidFill>
                <a:latin typeface="Calibri" pitchFamily="34" charset="0"/>
                <a:ea typeface="Calibri" pitchFamily="34" charset="-122"/>
                <a:cs typeface="Calibri" pitchFamily="34" charset="-120"/>
              </a:rPr>
              <a:t>Common Mistakes</a:t>
            </a:r>
            <a:endParaRPr lang="en-US" sz="2800" dirty="0"/>
          </a:p>
        </p:txBody>
      </p:sp>
      <p:sp>
        <p:nvSpPr>
          <p:cNvPr id="3" name="Text 1"/>
          <p:cNvSpPr/>
          <p:nvPr/>
        </p:nvSpPr>
        <p:spPr>
          <a:xfrm>
            <a:off x="457200" y="960120"/>
            <a:ext cx="8229600" cy="365760"/>
          </a:xfrm>
          <a:prstGeom prst="rect">
            <a:avLst/>
          </a:prstGeom>
          <a:noFill/>
          <a:ln/>
        </p:spPr>
        <p:txBody>
          <a:bodyPr wrap="square" rtlCol="0" anchor="ctr"/>
          <a:lstStyle/>
          <a:p>
            <a:pPr algn="l" indent="0" marL="0">
              <a:buNone/>
            </a:pPr>
            <a:r>
              <a:rPr lang="en-US" sz="1300" i="1" dirty="0">
                <a:solidFill>
                  <a:srgbClr val="7C4910"/>
                </a:solidFill>
                <a:latin typeface="Calibri" pitchFamily="34" charset="0"/>
                <a:ea typeface="Calibri" pitchFamily="34" charset="-122"/>
                <a:cs typeface="Calibri" pitchFamily="34" charset="-120"/>
              </a:rPr>
              <a:t>Chapter 22 — patterns that look reasonable and aren't</a:t>
            </a:r>
            <a:endParaRPr lang="en-US" sz="1300" dirty="0"/>
          </a:p>
        </p:txBody>
      </p:sp>
      <p:sp>
        <p:nvSpPr>
          <p:cNvPr id="4" name="Text 2"/>
          <p:cNvSpPr/>
          <p:nvPr/>
        </p:nvSpPr>
        <p:spPr>
          <a:xfrm>
            <a:off x="640080" y="1554480"/>
            <a:ext cx="7863840" cy="3200400"/>
          </a:xfrm>
          <a:prstGeom prst="rect">
            <a:avLst/>
          </a:prstGeom>
          <a:noFill/>
          <a:ln/>
        </p:spPr>
        <p:txBody>
          <a:bodyPr wrap="square" rtlCol="0" anchor="t"/>
          <a:lstStyle/>
          <a:p>
            <a:pPr marL="342900" indent="-342900">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Promising "the framework eliminates failure"</a:t>
            </a:r>
            <a:endParaRPr lang="en-US" sz="1700" dirty="0"/>
          </a:p>
          <a:p>
            <a:pPr marL="342900" indent="-342900">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Refusing to document the framework's limits</a:t>
            </a:r>
            <a:endParaRPr lang="en-US" sz="1700" dirty="0"/>
          </a:p>
          <a:p>
            <a:pPr marL="342900" indent="-342900">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Skipping ethical review because "the framework is correct"</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F2F1"/>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algn="l" indent="0" marL="0">
              <a:buNone/>
            </a:pPr>
            <a:r>
              <a:rPr lang="en-US" sz="3200" b="1" dirty="0">
                <a:solidFill>
                  <a:srgbClr val="14635F"/>
                </a:solidFill>
                <a:latin typeface="Calibri" pitchFamily="34" charset="0"/>
                <a:ea typeface="Calibri" pitchFamily="34" charset="-122"/>
                <a:cs typeface="Calibri" pitchFamily="34" charset="-120"/>
              </a:rPr>
              <a:t>Takeaway</a:t>
            </a:r>
            <a:endParaRPr lang="en-US" sz="3200" dirty="0"/>
          </a:p>
        </p:txBody>
      </p:sp>
      <p:sp>
        <p:nvSpPr>
          <p:cNvPr id="3" name="Text 1"/>
          <p:cNvSpPr/>
          <p:nvPr/>
        </p:nvSpPr>
        <p:spPr>
          <a:xfrm>
            <a:off x="457200" y="960120"/>
            <a:ext cx="8229600" cy="365760"/>
          </a:xfrm>
          <a:prstGeom prst="rect">
            <a:avLst/>
          </a:prstGeom>
          <a:noFill/>
          <a:ln/>
        </p:spPr>
        <p:txBody>
          <a:bodyPr wrap="square" rtlCol="0" anchor="ctr"/>
          <a:lstStyle/>
          <a:p>
            <a:pPr algn="l" indent="0" marL="0">
              <a:buNone/>
            </a:pPr>
            <a:r>
              <a:rPr lang="en-US" sz="1400" i="1" dirty="0">
                <a:solidFill>
                  <a:srgbClr val="0E4D49"/>
                </a:solidFill>
                <a:latin typeface="Calibri" pitchFamily="34" charset="0"/>
                <a:ea typeface="Calibri" pitchFamily="34" charset="-122"/>
                <a:cs typeface="Calibri" pitchFamily="34" charset="-120"/>
              </a:rPr>
              <a:t>Chapter 22 — Limitations</a:t>
            </a:r>
            <a:endParaRPr lang="en-US" sz="1400" dirty="0"/>
          </a:p>
        </p:txBody>
      </p:sp>
      <p:sp>
        <p:nvSpPr>
          <p:cNvPr id="4" name="Text 2"/>
          <p:cNvSpPr/>
          <p:nvPr/>
        </p:nvSpPr>
        <p:spPr>
          <a:xfrm>
            <a:off x="640080" y="1645920"/>
            <a:ext cx="7863840" cy="3108960"/>
          </a:xfrm>
          <a:prstGeom prst="rect">
            <a:avLst/>
          </a:prstGeom>
          <a:noFill/>
          <a:ln/>
        </p:spPr>
        <p:txBody>
          <a:bodyPr wrap="square" rtlCol="0" anchor="t"/>
          <a:lstStyle/>
          <a:p>
            <a:pPr algn="l" indent="0" marL="0">
              <a:spcAft>
                <a:spcPts val="1200"/>
              </a:spcAft>
              <a:buNone/>
            </a:pPr>
            <a:r>
              <a:rPr lang="en-US" sz="1900" dirty="0">
                <a:solidFill>
                  <a:srgbClr val="333333"/>
                </a:solidFill>
                <a:latin typeface="Calibri" pitchFamily="34" charset="0"/>
                <a:ea typeface="Calibri" pitchFamily="34" charset="-122"/>
                <a:cs typeface="Calibri" pitchFamily="34" charset="-120"/>
              </a:rPr>
              <a:t>The framework reduces failure rates, shortens recovery, and makes incidents easier to explain. It does not promise no failures. Documenting limits is part of the discipline. When the framework cannot help — organizational dysfunction, regulatory ambiguity, cultural resistance — it is more useful to say so directly.</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22 — Limitations</dc:title>
  <dc:subject>PptxGenJS Presentation</dc:subject>
  <dc:creator>Anthropic</dc:creator>
  <cp:lastModifiedBy>Anthropic</cp:lastModifiedBy>
  <cp:revision>1</cp:revision>
  <dcterms:created xsi:type="dcterms:W3CDTF">2026-05-03T17:33:03Z</dcterms:created>
  <dcterms:modified xsi:type="dcterms:W3CDTF">2026-05-03T17:33:03Z</dcterms:modified>
</cp:coreProperties>
</file>