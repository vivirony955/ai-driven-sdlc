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4" r:id="rId15"/>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64A"/>
        </a:solidFill>
      </p:bgPr>
    </p:bg>
    <p:spTree>
      <p:nvGrpSpPr>
        <p:cNvPr id="1" name=""/>
        <p:cNvGrpSpPr/>
        <p:nvPr/>
      </p:nvGrpSpPr>
      <p:grpSpPr>
        <a:xfrm>
          <a:off x="0" y="0"/>
          <a:ext cx="0" cy="0"/>
          <a:chOff x="0" y="0"/>
          <a:chExt cx="0" cy="0"/>
        </a:xfrm>
      </p:grpSpPr>
      <p:sp>
        <p:nvSpPr>
          <p:cNvPr id="2" name="Shape 0"/>
          <p:cNvSpPr/>
          <p:nvPr/>
        </p:nvSpPr>
        <p:spPr>
          <a:xfrm>
            <a:off x="914400" y="1463040"/>
            <a:ext cx="7315200" cy="36576"/>
          </a:xfrm>
          <a:prstGeom prst="rect">
            <a:avLst/>
          </a:prstGeom>
          <a:solidFill>
            <a:srgbClr val="14635F"/>
          </a:solidFill>
          <a:ln w="12700">
            <a:solidFill>
              <a:srgbClr val="14635F"/>
            </a:solidFill>
            <a:prstDash val="solid"/>
          </a:ln>
        </p:spPr>
      </p:sp>
      <p:sp>
        <p:nvSpPr>
          <p:cNvPr id="3" name="Text 1"/>
          <p:cNvSpPr/>
          <p:nvPr/>
        </p:nvSpPr>
        <p:spPr>
          <a:xfrm>
            <a:off x="457200" y="914400"/>
            <a:ext cx="8229600" cy="457200"/>
          </a:xfrm>
          <a:prstGeom prst="rect">
            <a:avLst/>
          </a:prstGeom>
          <a:noFill/>
          <a:ln/>
        </p:spPr>
        <p:txBody>
          <a:bodyPr wrap="square" rtlCol="0" anchor="ctr"/>
          <a:lstStyle/>
          <a:p>
            <a:pPr algn="ctr" indent="0" marL="0">
              <a:buNone/>
            </a:pPr>
            <a:r>
              <a:rPr lang="en-US" sz="1800" b="1" spc="400" kern="0" dirty="0">
                <a:solidFill>
                  <a:srgbClr val="93C5C2"/>
                </a:solidFill>
                <a:latin typeface="Calibri" pitchFamily="34" charset="0"/>
                <a:ea typeface="Calibri" pitchFamily="34" charset="-122"/>
                <a:cs typeface="Calibri" pitchFamily="34" charset="-120"/>
              </a:rPr>
              <a:t>Chapter 23</a:t>
            </a:r>
            <a:endParaRPr lang="en-US" sz="1800" dirty="0"/>
          </a:p>
        </p:txBody>
      </p:sp>
      <p:sp>
        <p:nvSpPr>
          <p:cNvPr id="4" name="Text 2"/>
          <p:cNvSpPr/>
          <p:nvPr/>
        </p:nvSpPr>
        <p:spPr>
          <a:xfrm>
            <a:off x="457200" y="1828800"/>
            <a:ext cx="8229600" cy="1463040"/>
          </a:xfrm>
          <a:prstGeom prst="rect">
            <a:avLst/>
          </a:prstGeom>
          <a:noFill/>
          <a:ln/>
        </p:spPr>
        <p:txBody>
          <a:bodyPr wrap="square" rtlCol="0" anchor="t"/>
          <a:lstStyle/>
          <a:p>
            <a:pPr algn="ctr" indent="0" marL="0">
              <a:buNone/>
            </a:pPr>
            <a:r>
              <a:rPr lang="en-US" sz="4400" b="1" dirty="0">
                <a:solidFill>
                  <a:srgbClr val="FFFFFF"/>
                </a:solidFill>
                <a:latin typeface="Calibri" pitchFamily="34" charset="0"/>
                <a:ea typeface="Calibri" pitchFamily="34" charset="-122"/>
                <a:cs typeface="Calibri" pitchFamily="34" charset="-120"/>
              </a:rPr>
              <a:t>Final Principles</a:t>
            </a:r>
            <a:endParaRPr lang="en-US" sz="4400" dirty="0"/>
          </a:p>
        </p:txBody>
      </p:sp>
      <p:sp>
        <p:nvSpPr>
          <p:cNvPr id="5" name="Text 3"/>
          <p:cNvSpPr/>
          <p:nvPr/>
        </p:nvSpPr>
        <p:spPr>
          <a:xfrm>
            <a:off x="457200" y="4023360"/>
            <a:ext cx="8229600" cy="457200"/>
          </a:xfrm>
          <a:prstGeom prst="rect">
            <a:avLst/>
          </a:prstGeom>
          <a:noFill/>
          <a:ln/>
        </p:spPr>
        <p:txBody>
          <a:bodyPr wrap="square" rtlCol="0" anchor="ctr"/>
          <a:lstStyle/>
          <a:p>
            <a:pPr algn="ctr" indent="0" marL="0">
              <a:buNone/>
            </a:pPr>
            <a:r>
              <a:rPr lang="en-US" sz="1600" i="1" dirty="0">
                <a:solidFill>
                  <a:srgbClr val="B8C2D6"/>
                </a:solidFill>
                <a:latin typeface="Calibri" pitchFamily="34" charset="0"/>
                <a:ea typeface="Calibri" pitchFamily="34" charset="-122"/>
                <a:cs typeface="Calibri" pitchFamily="34" charset="-120"/>
              </a:rPr>
              <a:t>Part VI — Reflection</a:t>
            </a:r>
            <a:endParaRPr lang="en-US" sz="1600" dirty="0"/>
          </a:p>
        </p:txBody>
      </p:sp>
      <p:sp>
        <p:nvSpPr>
          <p:cNvPr id="6" name="Text 4"/>
          <p:cNvSpPr/>
          <p:nvPr/>
        </p:nvSpPr>
        <p:spPr>
          <a:xfrm>
            <a:off x="457200" y="4663440"/>
            <a:ext cx="8229600" cy="365760"/>
          </a:xfrm>
          <a:prstGeom prst="rect">
            <a:avLst/>
          </a:prstGeom>
          <a:noFill/>
          <a:ln/>
        </p:spPr>
        <p:txBody>
          <a:bodyPr wrap="square" rtlCol="0" anchor="ctr"/>
          <a:lstStyle/>
          <a:p>
            <a:pPr algn="ctr" indent="0" marL="0">
              <a:buNone/>
            </a:pPr>
            <a:r>
              <a:rPr lang="en-US" sz="1200" i="1" dirty="0">
                <a:solidFill>
                  <a:srgbClr val="6E7E94"/>
                </a:solidFill>
                <a:latin typeface="Calibri" pitchFamily="34" charset="0"/>
                <a:ea typeface="Calibri" pitchFamily="34" charset="-122"/>
                <a:cs typeface="Calibri" pitchFamily="34" charset="-120"/>
              </a:rPr>
              <a:t>AI-Driven SDLC — A Federated Framework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algn="l" indent="0" marL="0">
              <a:buNone/>
            </a:pPr>
            <a:r>
              <a:rPr lang="en-US" sz="3200" b="1" dirty="0">
                <a:solidFill>
                  <a:srgbClr val="1F3864"/>
                </a:solidFill>
                <a:latin typeface="Calibri" pitchFamily="34" charset="0"/>
                <a:ea typeface="Calibri" pitchFamily="34" charset="-122"/>
                <a:cs typeface="Calibri" pitchFamily="34" charset="-120"/>
              </a:rPr>
              <a:t>Learning Objectives</a:t>
            </a:r>
            <a:endParaRPr lang="en-US" sz="3200" dirty="0"/>
          </a:p>
        </p:txBody>
      </p:sp>
      <p:sp>
        <p:nvSpPr>
          <p:cNvPr id="3" name="Text 1"/>
          <p:cNvSpPr/>
          <p:nvPr/>
        </p:nvSpPr>
        <p:spPr>
          <a:xfrm>
            <a:off x="457200" y="960120"/>
            <a:ext cx="8229600" cy="365760"/>
          </a:xfrm>
          <a:prstGeom prst="rect">
            <a:avLst/>
          </a:prstGeom>
          <a:noFill/>
          <a:ln/>
        </p:spPr>
        <p:txBody>
          <a:bodyPr wrap="square" rtlCol="0" anchor="ctr"/>
          <a:lstStyle/>
          <a:p>
            <a:pPr algn="l" indent="0" marL="0">
              <a:buNone/>
            </a:pPr>
            <a:r>
              <a:rPr lang="en-US" sz="1400" i="1" dirty="0">
                <a:solidFill>
                  <a:srgbClr val="6E6E6E"/>
                </a:solidFill>
                <a:latin typeface="Calibri" pitchFamily="34" charset="0"/>
                <a:ea typeface="Calibri" pitchFamily="34" charset="-122"/>
                <a:cs typeface="Calibri" pitchFamily="34" charset="-120"/>
              </a:rPr>
              <a:t>Chapter 23 — Final Principles</a:t>
            </a:r>
            <a:endParaRPr lang="en-US" sz="1400" dirty="0"/>
          </a:p>
        </p:txBody>
      </p:sp>
      <p:sp>
        <p:nvSpPr>
          <p:cNvPr id="4" name="Text 2"/>
          <p:cNvSpPr/>
          <p:nvPr/>
        </p:nvSpPr>
        <p:spPr>
          <a:xfrm>
            <a:off x="640080" y="1554480"/>
            <a:ext cx="7863840" cy="3383280"/>
          </a:xfrm>
          <a:prstGeom prst="rect">
            <a:avLst/>
          </a:prstGeom>
          <a:noFill/>
          <a:ln/>
        </p:spPr>
        <p:txBody>
          <a:bodyPr wrap="square" rtlCol="0" anchor="t"/>
          <a:lstStyle/>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Recall the ten final principles as a minimum set, not a menu</a:t>
            </a:r>
            <a:endParaRPr lang="en-US" sz="1700" dirty="0"/>
          </a:p>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Apply principles in actual decisions, not on a poster</a:t>
            </a:r>
            <a:endParaRPr lang="en-US" sz="1700" dirty="0"/>
          </a:p>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Revisit principles annually as the team grows</a:t>
            </a:r>
            <a:endParaRPr lang="en-US" sz="1700" dirty="0"/>
          </a:p>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Identify the weakest stage and address it iteratively</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2800" b="1" dirty="0">
                <a:solidFill>
                  <a:srgbClr val="1F3864"/>
                </a:solidFill>
                <a:latin typeface="Calibri" pitchFamily="34" charset="0"/>
                <a:ea typeface="Calibri" pitchFamily="34" charset="-122"/>
                <a:cs typeface="Calibri" pitchFamily="34" charset="-120"/>
              </a:rPr>
              <a:t>Principles as Minimum Set</a:t>
            </a:r>
            <a:endParaRPr lang="en-US" sz="2800" dirty="0"/>
          </a:p>
        </p:txBody>
      </p:sp>
      <p:sp>
        <p:nvSpPr>
          <p:cNvPr id="3" name="Text 1"/>
          <p:cNvSpPr/>
          <p:nvPr/>
        </p:nvSpPr>
        <p:spPr>
          <a:xfrm>
            <a:off x="6583680" y="411480"/>
            <a:ext cx="2103120" cy="365760"/>
          </a:xfrm>
          <a:prstGeom prst="rect">
            <a:avLst/>
          </a:prstGeom>
          <a:noFill/>
          <a:ln/>
        </p:spPr>
        <p:txBody>
          <a:bodyPr wrap="square" rtlCol="0" anchor="ctr"/>
          <a:lstStyle/>
          <a:p>
            <a:pPr algn="r" indent="0" marL="0">
              <a:buNone/>
            </a:pPr>
            <a:r>
              <a:rPr lang="en-US" sz="1200" i="1" dirty="0">
                <a:solidFill>
                  <a:srgbClr val="6E6E6E"/>
                </a:solidFill>
                <a:latin typeface="Calibri" pitchFamily="34" charset="0"/>
                <a:ea typeface="Calibri" pitchFamily="34" charset="-122"/>
                <a:cs typeface="Calibri" pitchFamily="34" charset="-120"/>
              </a:rPr>
              <a:t>Chapter 23</a:t>
            </a:r>
            <a:endParaRPr lang="en-US" sz="1200" dirty="0"/>
          </a:p>
        </p:txBody>
      </p:sp>
      <p:sp>
        <p:nvSpPr>
          <p:cNvPr id="4" name="Text 2"/>
          <p:cNvSpPr/>
          <p:nvPr/>
        </p:nvSpPr>
        <p:spPr>
          <a:xfrm>
            <a:off x="640080" y="1280160"/>
            <a:ext cx="7863840" cy="3657600"/>
          </a:xfrm>
          <a:prstGeom prst="rect">
            <a:avLst/>
          </a:prstGeom>
          <a:noFill/>
          <a:ln/>
        </p:spPr>
        <p:txBody>
          <a:bodyPr wrap="square" rtlCol="0" anchor="t"/>
          <a:lstStyle/>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The ten principles are not a menu to pick from</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A team that excels at determinism and traceability while neglecting failure-first thinking has a debuggable system that does not survive its own incidents</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Picking favorites is itself a failure mode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2800" b="1" dirty="0">
                <a:solidFill>
                  <a:srgbClr val="1F3864"/>
                </a:solidFill>
                <a:latin typeface="Calibri" pitchFamily="34" charset="0"/>
                <a:ea typeface="Calibri" pitchFamily="34" charset="-122"/>
                <a:cs typeface="Calibri" pitchFamily="34" charset="-120"/>
              </a:rPr>
              <a:t>In Operation, Not on a Poster</a:t>
            </a:r>
            <a:endParaRPr lang="en-US" sz="2800" dirty="0"/>
          </a:p>
        </p:txBody>
      </p:sp>
      <p:sp>
        <p:nvSpPr>
          <p:cNvPr id="3" name="Text 1"/>
          <p:cNvSpPr/>
          <p:nvPr/>
        </p:nvSpPr>
        <p:spPr>
          <a:xfrm>
            <a:off x="6583680" y="411480"/>
            <a:ext cx="2103120" cy="365760"/>
          </a:xfrm>
          <a:prstGeom prst="rect">
            <a:avLst/>
          </a:prstGeom>
          <a:noFill/>
          <a:ln/>
        </p:spPr>
        <p:txBody>
          <a:bodyPr wrap="square" rtlCol="0" anchor="ctr"/>
          <a:lstStyle/>
          <a:p>
            <a:pPr algn="r" indent="0" marL="0">
              <a:buNone/>
            </a:pPr>
            <a:r>
              <a:rPr lang="en-US" sz="1200" i="1" dirty="0">
                <a:solidFill>
                  <a:srgbClr val="6E6E6E"/>
                </a:solidFill>
                <a:latin typeface="Calibri" pitchFamily="34" charset="0"/>
                <a:ea typeface="Calibri" pitchFamily="34" charset="-122"/>
                <a:cs typeface="Calibri" pitchFamily="34" charset="-120"/>
              </a:rPr>
              <a:t>Chapter 23</a:t>
            </a:r>
            <a:endParaRPr lang="en-US" sz="1200" dirty="0"/>
          </a:p>
        </p:txBody>
      </p:sp>
      <p:sp>
        <p:nvSpPr>
          <p:cNvPr id="4" name="Text 2"/>
          <p:cNvSpPr/>
          <p:nvPr/>
        </p:nvSpPr>
        <p:spPr>
          <a:xfrm>
            <a:off x="640080" y="1280160"/>
            <a:ext cx="7863840" cy="3657600"/>
          </a:xfrm>
          <a:prstGeom prst="rect">
            <a:avLst/>
          </a:prstGeom>
          <a:noFill/>
          <a:ln/>
        </p:spPr>
        <p:txBody>
          <a:bodyPr wrap="square" rtlCol="0" anchor="t"/>
          <a:lstStyle/>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A poster of "We Believe In These Ten Principles" is a poster</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Principles in operation: which design is approved, which trade-off is accepted, which release is blocked</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The discipline is whether principles surface in actual decisions</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A poster without operation is decoration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2800" b="1" dirty="0">
                <a:solidFill>
                  <a:srgbClr val="1F3864"/>
                </a:solidFill>
                <a:latin typeface="Calibri" pitchFamily="34" charset="0"/>
                <a:ea typeface="Calibri" pitchFamily="34" charset="-122"/>
                <a:cs typeface="Calibri" pitchFamily="34" charset="-120"/>
              </a:rPr>
              <a:t>Revisit Annually</a:t>
            </a:r>
            <a:endParaRPr lang="en-US" sz="2800" dirty="0"/>
          </a:p>
        </p:txBody>
      </p:sp>
      <p:sp>
        <p:nvSpPr>
          <p:cNvPr id="3" name="Text 1"/>
          <p:cNvSpPr/>
          <p:nvPr/>
        </p:nvSpPr>
        <p:spPr>
          <a:xfrm>
            <a:off x="6583680" y="411480"/>
            <a:ext cx="2103120" cy="365760"/>
          </a:xfrm>
          <a:prstGeom prst="rect">
            <a:avLst/>
          </a:prstGeom>
          <a:noFill/>
          <a:ln/>
        </p:spPr>
        <p:txBody>
          <a:bodyPr wrap="square" rtlCol="0" anchor="ctr"/>
          <a:lstStyle/>
          <a:p>
            <a:pPr algn="r" indent="0" marL="0">
              <a:buNone/>
            </a:pPr>
            <a:r>
              <a:rPr lang="en-US" sz="1200" i="1" dirty="0">
                <a:solidFill>
                  <a:srgbClr val="6E6E6E"/>
                </a:solidFill>
                <a:latin typeface="Calibri" pitchFamily="34" charset="0"/>
                <a:ea typeface="Calibri" pitchFamily="34" charset="-122"/>
                <a:cs typeface="Calibri" pitchFamily="34" charset="-120"/>
              </a:rPr>
              <a:t>Chapter 23</a:t>
            </a:r>
            <a:endParaRPr lang="en-US" sz="1200" dirty="0"/>
          </a:p>
        </p:txBody>
      </p:sp>
      <p:sp>
        <p:nvSpPr>
          <p:cNvPr id="4" name="Text 2"/>
          <p:cNvSpPr/>
          <p:nvPr/>
        </p:nvSpPr>
        <p:spPr>
          <a:xfrm>
            <a:off x="640080" y="1280160"/>
            <a:ext cx="7863840" cy="3657600"/>
          </a:xfrm>
          <a:prstGeom prst="rect">
            <a:avLst/>
          </a:prstGeom>
          <a:noFill/>
          <a:ln/>
        </p:spPr>
        <p:txBody>
          <a:bodyPr wrap="square" rtlCol="0" anchor="t"/>
          <a:lstStyle/>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Principles that worked at fifteen engineers may not work at fifty</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Growth changes communication patterns, decision speed, audit needs</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Annual re-read with the question: does the team's actual operation reflect the principles?</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Without that audit, principles drift silently</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2800" b="1" dirty="0">
                <a:solidFill>
                  <a:srgbClr val="1F3864"/>
                </a:solidFill>
                <a:latin typeface="Calibri" pitchFamily="34" charset="0"/>
                <a:ea typeface="Calibri" pitchFamily="34" charset="-122"/>
                <a:cs typeface="Calibri" pitchFamily="34" charset="-120"/>
              </a:rPr>
              <a:t>The Long-Run Value</a:t>
            </a:r>
            <a:endParaRPr lang="en-US" sz="2800" dirty="0"/>
          </a:p>
        </p:txBody>
      </p:sp>
      <p:sp>
        <p:nvSpPr>
          <p:cNvPr id="3" name="Text 1"/>
          <p:cNvSpPr/>
          <p:nvPr/>
        </p:nvSpPr>
        <p:spPr>
          <a:xfrm>
            <a:off x="6583680" y="411480"/>
            <a:ext cx="2103120" cy="365760"/>
          </a:xfrm>
          <a:prstGeom prst="rect">
            <a:avLst/>
          </a:prstGeom>
          <a:noFill/>
          <a:ln/>
        </p:spPr>
        <p:txBody>
          <a:bodyPr wrap="square" rtlCol="0" anchor="ctr"/>
          <a:lstStyle/>
          <a:p>
            <a:pPr algn="r" indent="0" marL="0">
              <a:buNone/>
            </a:pPr>
            <a:r>
              <a:rPr lang="en-US" sz="1200" i="1" dirty="0">
                <a:solidFill>
                  <a:srgbClr val="6E6E6E"/>
                </a:solidFill>
                <a:latin typeface="Calibri" pitchFamily="34" charset="0"/>
                <a:ea typeface="Calibri" pitchFamily="34" charset="-122"/>
                <a:cs typeface="Calibri" pitchFamily="34" charset="-120"/>
              </a:rPr>
              <a:t>Chapter 23</a:t>
            </a:r>
            <a:endParaRPr lang="en-US" sz="1200" dirty="0"/>
          </a:p>
        </p:txBody>
      </p:sp>
      <p:sp>
        <p:nvSpPr>
          <p:cNvPr id="4" name="Text 2"/>
          <p:cNvSpPr/>
          <p:nvPr/>
        </p:nvSpPr>
        <p:spPr>
          <a:xfrm>
            <a:off x="640080" y="1280160"/>
            <a:ext cx="7863840" cy="3657600"/>
          </a:xfrm>
          <a:prstGeom prst="rect">
            <a:avLst/>
          </a:prstGeom>
          <a:noFill/>
          <a:ln/>
        </p:spPr>
        <p:txBody>
          <a:bodyPr wrap="square" rtlCol="0" anchor="t"/>
          <a:lstStyle/>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A system fails at its weakest stage</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Identify which stage that is. Address it.</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Identify the new weakest stage. Address that.</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The framework is more elaborate than this in detail, but most of its long-run value comes from doing this one thing repeatedly.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2E5"/>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2800" b="1" dirty="0">
                <a:solidFill>
                  <a:srgbClr val="9C5A14"/>
                </a:solidFill>
                <a:latin typeface="Calibri" pitchFamily="34" charset="0"/>
                <a:ea typeface="Calibri" pitchFamily="34" charset="-122"/>
                <a:cs typeface="Calibri" pitchFamily="34" charset="-120"/>
              </a:rPr>
              <a:t>Common Mistakes</a:t>
            </a:r>
            <a:endParaRPr lang="en-US" sz="2800" dirty="0"/>
          </a:p>
        </p:txBody>
      </p:sp>
      <p:sp>
        <p:nvSpPr>
          <p:cNvPr id="3" name="Text 1"/>
          <p:cNvSpPr/>
          <p:nvPr/>
        </p:nvSpPr>
        <p:spPr>
          <a:xfrm>
            <a:off x="457200" y="960120"/>
            <a:ext cx="8229600" cy="365760"/>
          </a:xfrm>
          <a:prstGeom prst="rect">
            <a:avLst/>
          </a:prstGeom>
          <a:noFill/>
          <a:ln/>
        </p:spPr>
        <p:txBody>
          <a:bodyPr wrap="square" rtlCol="0" anchor="ctr"/>
          <a:lstStyle/>
          <a:p>
            <a:pPr algn="l" indent="0" marL="0">
              <a:buNone/>
            </a:pPr>
            <a:r>
              <a:rPr lang="en-US" sz="1300" i="1" dirty="0">
                <a:solidFill>
                  <a:srgbClr val="7C4910"/>
                </a:solidFill>
                <a:latin typeface="Calibri" pitchFamily="34" charset="0"/>
                <a:ea typeface="Calibri" pitchFamily="34" charset="-122"/>
                <a:cs typeface="Calibri" pitchFamily="34" charset="-120"/>
              </a:rPr>
              <a:t>Chapter 23 — patterns that look reasonable and aren't</a:t>
            </a:r>
            <a:endParaRPr lang="en-US" sz="1300" dirty="0"/>
          </a:p>
        </p:txBody>
      </p:sp>
      <p:sp>
        <p:nvSpPr>
          <p:cNvPr id="4" name="Text 2"/>
          <p:cNvSpPr/>
          <p:nvPr/>
        </p:nvSpPr>
        <p:spPr>
          <a:xfrm>
            <a:off x="640080" y="1554480"/>
            <a:ext cx="7863840" cy="3200400"/>
          </a:xfrm>
          <a:prstGeom prst="rect">
            <a:avLst/>
          </a:prstGeom>
          <a:noFill/>
          <a:ln/>
        </p:spPr>
        <p:txBody>
          <a:bodyPr wrap="square" rtlCol="0" anchor="t"/>
          <a:lstStyle/>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Picking a favorite principle and ignoring the rest</a:t>
            </a:r>
            <a:endParaRPr lang="en-US" sz="1700" dirty="0"/>
          </a:p>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Treating principles as a quality stamp</a:t>
            </a:r>
            <a:endParaRPr lang="en-US" sz="1700" dirty="0"/>
          </a:p>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Not revisiting principles when the team grows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2F1"/>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3200" b="1" dirty="0">
                <a:solidFill>
                  <a:srgbClr val="14635F"/>
                </a:solidFill>
                <a:latin typeface="Calibri" pitchFamily="34" charset="0"/>
                <a:ea typeface="Calibri" pitchFamily="34" charset="-122"/>
                <a:cs typeface="Calibri" pitchFamily="34" charset="-120"/>
              </a:rPr>
              <a:t>Takeaway</a:t>
            </a:r>
            <a:endParaRPr lang="en-US" sz="3200" dirty="0"/>
          </a:p>
        </p:txBody>
      </p:sp>
      <p:sp>
        <p:nvSpPr>
          <p:cNvPr id="3" name="Text 1"/>
          <p:cNvSpPr/>
          <p:nvPr/>
        </p:nvSpPr>
        <p:spPr>
          <a:xfrm>
            <a:off x="457200" y="960120"/>
            <a:ext cx="8229600" cy="365760"/>
          </a:xfrm>
          <a:prstGeom prst="rect">
            <a:avLst/>
          </a:prstGeom>
          <a:noFill/>
          <a:ln/>
        </p:spPr>
        <p:txBody>
          <a:bodyPr wrap="square" rtlCol="0" anchor="ctr"/>
          <a:lstStyle/>
          <a:p>
            <a:pPr algn="l" indent="0" marL="0">
              <a:buNone/>
            </a:pPr>
            <a:r>
              <a:rPr lang="en-US" sz="1400" i="1" dirty="0">
                <a:solidFill>
                  <a:srgbClr val="0E4D49"/>
                </a:solidFill>
                <a:latin typeface="Calibri" pitchFamily="34" charset="0"/>
                <a:ea typeface="Calibri" pitchFamily="34" charset="-122"/>
                <a:cs typeface="Calibri" pitchFamily="34" charset="-120"/>
              </a:rPr>
              <a:t>Chapter 23 — Final Principles</a:t>
            </a:r>
            <a:endParaRPr lang="en-US" sz="1400" dirty="0"/>
          </a:p>
        </p:txBody>
      </p:sp>
      <p:sp>
        <p:nvSpPr>
          <p:cNvPr id="4" name="Text 2"/>
          <p:cNvSpPr/>
          <p:nvPr/>
        </p:nvSpPr>
        <p:spPr>
          <a:xfrm>
            <a:off x="640080" y="1645920"/>
            <a:ext cx="7863840" cy="3108960"/>
          </a:xfrm>
          <a:prstGeom prst="rect">
            <a:avLst/>
          </a:prstGeom>
          <a:noFill/>
          <a:ln/>
        </p:spPr>
        <p:txBody>
          <a:bodyPr wrap="square" rtlCol="0" anchor="t"/>
          <a:lstStyle/>
          <a:p>
            <a:pPr algn="l" indent="0" marL="0">
              <a:spcAft>
                <a:spcPts val="1200"/>
              </a:spcAft>
              <a:buNone/>
            </a:pPr>
            <a:r>
              <a:rPr lang="en-US" sz="1900" dirty="0">
                <a:solidFill>
                  <a:srgbClr val="333333"/>
                </a:solidFill>
                <a:latin typeface="Calibri" pitchFamily="34" charset="0"/>
                <a:ea typeface="Calibri" pitchFamily="34" charset="-122"/>
                <a:cs typeface="Calibri" pitchFamily="34" charset="-120"/>
              </a:rPr>
              <a:t>A system fails at its weakest stage. The most reliable way to improve it is to identify which stage that currently is and address it. Then identify the new weakest stage and address that. Most of the framework's long-run value comes from doing this one thing repeatedly.</a:t>
            </a:r>
            <a:endParaRPr lang="en-US" sz="19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640080"/>
          </a:xfrm>
          <a:prstGeom prst="rect">
            <a:avLst/>
          </a:prstGeom>
          <a:noFill/>
        </p:spPr>
        <p:txBody>
          <a:bodyPr wrap="none" lIns="0" rIns="0" tIns="0" bIns="0">
            <a:spAutoFit/>
          </a:bodyPr>
          <a:lstStyle/>
          <a:p>
            <a:pPr algn="l"/>
            <a:r>
              <a:rPr sz="2400" b="1">
                <a:solidFill>
                  <a:srgbClr val="1F3864"/>
                </a:solidFill>
                <a:latin typeface="Calibri"/>
              </a:rPr>
              <a:t>Figure 23.1 — The ten final principles</a:t>
            </a:r>
          </a:p>
        </p:txBody>
      </p:sp>
      <p:pic>
        <p:nvPicPr>
          <p:cNvPr id="3" name="Picture 2" descr="e47dbdcd4b24a0e9d2dc37ee483781fa46e0e347.png"/>
          <p:cNvPicPr>
            <a:picLocks noChangeAspect="1"/>
          </p:cNvPicPr>
          <p:nvPr/>
        </p:nvPicPr>
        <p:blipFill>
          <a:blip r:embed="rId2"/>
          <a:stretch>
            <a:fillRect/>
          </a:stretch>
        </p:blipFill>
        <p:spPr>
          <a:xfrm>
            <a:off x="2472509" y="1280160"/>
            <a:ext cx="4198981" cy="3314700"/>
          </a:xfrm>
          <a:prstGeom prst="rect">
            <a:avLst/>
          </a:prstGeom>
        </p:spPr>
      </p:pic>
      <p:sp>
        <p:nvSpPr>
          <p:cNvPr id="4" name="TextBox 3"/>
          <p:cNvSpPr txBox="1"/>
          <p:nvPr/>
        </p:nvSpPr>
        <p:spPr>
          <a:xfrm>
            <a:off x="457200" y="4686300"/>
            <a:ext cx="8229600" cy="274320"/>
          </a:xfrm>
          <a:prstGeom prst="rect">
            <a:avLst/>
          </a:prstGeom>
          <a:noFill/>
        </p:spPr>
        <p:txBody>
          <a:bodyPr wrap="none" lIns="0" rIns="0" tIns="0" bIns="0">
            <a:spAutoFit/>
          </a:bodyPr>
          <a:lstStyle/>
          <a:p>
            <a:pPr algn="ctr"/>
            <a:r>
              <a:rPr sz="1100" i="1">
                <a:solidFill>
                  <a:srgbClr val="6E7E94"/>
                </a:solidFill>
                <a:latin typeface="Calibri"/>
              </a:rPr>
              <a:t>AI-Driven SDLC — A Federated Framework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23 — Final Principles</dc:title>
  <dc:subject>PptxGenJS Presentation</dc:subject>
  <dc:creator>Anthropic</dc:creator>
  <cp:lastModifiedBy>Anthropic</cp:lastModifiedBy>
  <cp:revision>1</cp:revision>
  <dcterms:created xsi:type="dcterms:W3CDTF">2026-05-03T17:33:03Z</dcterms:created>
  <dcterms:modified xsi:type="dcterms:W3CDTF">2026-05-03T17:33:03Z</dcterms:modified>
</cp:coreProperties>
</file>