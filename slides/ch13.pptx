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3" r:id="rId14"/>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64A"/>
        </a:solidFill>
      </p:bgPr>
    </p:bg>
    <p:spTree>
      <p:nvGrpSpPr>
        <p:cNvPr id="1" name=""/>
        <p:cNvGrpSpPr/>
        <p:nvPr/>
      </p:nvGrpSpPr>
      <p:grpSpPr>
        <a:xfrm>
          <a:off x="0" y="0"/>
          <a:ext cx="0" cy="0"/>
          <a:chOff x="0" y="0"/>
          <a:chExt cx="0" cy="0"/>
        </a:xfrm>
      </p:grpSpPr>
      <p:sp>
        <p:nvSpPr>
          <p:cNvPr id="2" name="Shape 0"/>
          <p:cNvSpPr/>
          <p:nvPr/>
        </p:nvSpPr>
        <p:spPr>
          <a:xfrm>
            <a:off x="914400" y="1463040"/>
            <a:ext cx="7315200" cy="36576"/>
          </a:xfrm>
          <a:prstGeom prst="rect">
            <a:avLst/>
          </a:prstGeom>
          <a:solidFill>
            <a:srgbClr val="14635F"/>
          </a:solidFill>
          <a:ln w="12700">
            <a:solidFill>
              <a:srgbClr val="14635F"/>
            </a:solidFill>
            <a:prstDash val="solid"/>
          </a:ln>
        </p:spPr>
      </p:sp>
      <p:sp>
        <p:nvSpPr>
          <p:cNvPr id="3" name="Text 1"/>
          <p:cNvSpPr/>
          <p:nvPr/>
        </p:nvSpPr>
        <p:spPr>
          <a:xfrm>
            <a:off x="457200" y="914400"/>
            <a:ext cx="8229600" cy="457200"/>
          </a:xfrm>
          <a:prstGeom prst="rect">
            <a:avLst/>
          </a:prstGeom>
          <a:noFill/>
          <a:ln/>
        </p:spPr>
        <p:txBody>
          <a:bodyPr wrap="square" rtlCol="0" anchor="ctr"/>
          <a:lstStyle/>
          <a:p>
            <a:pPr algn="ctr" indent="0" marL="0">
              <a:buNone/>
            </a:pPr>
            <a:r>
              <a:rPr lang="en-US" sz="1800" b="1" spc="400" kern="0" dirty="0">
                <a:solidFill>
                  <a:srgbClr val="93C5C2"/>
                </a:solidFill>
                <a:latin typeface="Calibri" pitchFamily="34" charset="0"/>
                <a:ea typeface="Calibri" pitchFamily="34" charset="-122"/>
                <a:cs typeface="Calibri" pitchFamily="34" charset="-120"/>
              </a:rPr>
              <a:t>Chapter 13</a:t>
            </a:r>
            <a:endParaRPr lang="en-US" sz="1800" dirty="0"/>
          </a:p>
        </p:txBody>
      </p:sp>
      <p:sp>
        <p:nvSpPr>
          <p:cNvPr id="4" name="Text 2"/>
          <p:cNvSpPr/>
          <p:nvPr/>
        </p:nvSpPr>
        <p:spPr>
          <a:xfrm>
            <a:off x="457200" y="1828800"/>
            <a:ext cx="8229600" cy="1463040"/>
          </a:xfrm>
          <a:prstGeom prst="rect">
            <a:avLst/>
          </a:prstGeom>
          <a:noFill/>
          <a:ln/>
        </p:spPr>
        <p:txBody>
          <a:bodyPr wrap="square" rtlCol="0" anchor="t"/>
          <a:lstStyle/>
          <a:p>
            <a:pPr algn="ctr" indent="0" marL="0">
              <a:buNone/>
            </a:pPr>
            <a:r>
              <a:rPr lang="en-US" sz="4400" b="1" dirty="0">
                <a:solidFill>
                  <a:srgbClr val="FFFFFF"/>
                </a:solidFill>
                <a:latin typeface="Calibri" pitchFamily="34" charset="0"/>
                <a:ea typeface="Calibri" pitchFamily="34" charset="-122"/>
                <a:cs typeface="Calibri" pitchFamily="34" charset="-120"/>
              </a:rPr>
              <a:t>Failure-First QA</a:t>
            </a:r>
            <a:endParaRPr lang="en-US" sz="4400" dirty="0"/>
          </a:p>
        </p:txBody>
      </p:sp>
      <p:sp>
        <p:nvSpPr>
          <p:cNvPr id="5" name="Text 3"/>
          <p:cNvSpPr/>
          <p:nvPr/>
        </p:nvSpPr>
        <p:spPr>
          <a:xfrm>
            <a:off x="457200" y="4023360"/>
            <a:ext cx="8229600" cy="457200"/>
          </a:xfrm>
          <a:prstGeom prst="rect">
            <a:avLst/>
          </a:prstGeom>
          <a:noFill/>
          <a:ln/>
        </p:spPr>
        <p:txBody>
          <a:bodyPr wrap="square" rtlCol="0" anchor="ctr"/>
          <a:lstStyle/>
          <a:p>
            <a:pPr algn="ctr" indent="0" marL="0">
              <a:buNone/>
            </a:pPr>
            <a:r>
              <a:rPr lang="en-US" sz="1600" i="1" dirty="0">
                <a:solidFill>
                  <a:srgbClr val="B8C2D6"/>
                </a:solidFill>
                <a:latin typeface="Calibri" pitchFamily="34" charset="0"/>
                <a:ea typeface="Calibri" pitchFamily="34" charset="-122"/>
                <a:cs typeface="Calibri" pitchFamily="34" charset="-120"/>
              </a:rPr>
              <a:t>Part IV — Quality Concerns</a:t>
            </a:r>
            <a:endParaRPr lang="en-US" sz="1600" dirty="0"/>
          </a:p>
        </p:txBody>
      </p:sp>
      <p:sp>
        <p:nvSpPr>
          <p:cNvPr id="6" name="Text 4"/>
          <p:cNvSpPr/>
          <p:nvPr/>
        </p:nvSpPr>
        <p:spPr>
          <a:xfrm>
            <a:off x="457200" y="4663440"/>
            <a:ext cx="8229600" cy="365760"/>
          </a:xfrm>
          <a:prstGeom prst="rect">
            <a:avLst/>
          </a:prstGeom>
          <a:noFill/>
          <a:ln/>
        </p:spPr>
        <p:txBody>
          <a:bodyPr wrap="square" rtlCol="0" anchor="ctr"/>
          <a:lstStyle/>
          <a:p>
            <a:pPr algn="ctr" indent="0" marL="0">
              <a:buNone/>
            </a:pPr>
            <a:r>
              <a:rPr lang="en-US" sz="1200" i="1" dirty="0">
                <a:solidFill>
                  <a:srgbClr val="6E7E94"/>
                </a:solidFill>
                <a:latin typeface="Calibri" pitchFamily="34" charset="0"/>
                <a:ea typeface="Calibri" pitchFamily="34" charset="-122"/>
                <a:cs typeface="Calibri" pitchFamily="34" charset="-120"/>
              </a:rPr>
              <a:t>AI-Driven SDLC — A Federated Framework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algn="l" indent="0" marL="0">
              <a:buNone/>
            </a:pPr>
            <a:r>
              <a:rPr lang="en-US" sz="3200" b="1" dirty="0">
                <a:solidFill>
                  <a:srgbClr val="1F3864"/>
                </a:solidFill>
                <a:latin typeface="Calibri" pitchFamily="34" charset="0"/>
                <a:ea typeface="Calibri" pitchFamily="34" charset="-122"/>
                <a:cs typeface="Calibri" pitchFamily="34" charset="-120"/>
              </a:rPr>
              <a:t>Learning Objectives</a:t>
            </a:r>
            <a:endParaRPr lang="en-US" sz="3200" dirty="0"/>
          </a:p>
        </p:txBody>
      </p:sp>
      <p:sp>
        <p:nvSpPr>
          <p:cNvPr id="3" name="Text 1"/>
          <p:cNvSpPr/>
          <p:nvPr/>
        </p:nvSpPr>
        <p:spPr>
          <a:xfrm>
            <a:off x="457200" y="960120"/>
            <a:ext cx="8229600" cy="365760"/>
          </a:xfrm>
          <a:prstGeom prst="rect">
            <a:avLst/>
          </a:prstGeom>
          <a:noFill/>
          <a:ln/>
        </p:spPr>
        <p:txBody>
          <a:bodyPr wrap="square" rtlCol="0" anchor="ctr"/>
          <a:lstStyle/>
          <a:p>
            <a:pPr algn="l" indent="0" marL="0">
              <a:buNone/>
            </a:pPr>
            <a:r>
              <a:rPr lang="en-US" sz="1400" i="1" dirty="0">
                <a:solidFill>
                  <a:srgbClr val="6E6E6E"/>
                </a:solidFill>
                <a:latin typeface="Calibri" pitchFamily="34" charset="0"/>
                <a:ea typeface="Calibri" pitchFamily="34" charset="-122"/>
                <a:cs typeface="Calibri" pitchFamily="34" charset="-120"/>
              </a:rPr>
              <a:t>Chapter 13 — Failure-First QA</a:t>
            </a:r>
            <a:endParaRPr lang="en-US" sz="1400" dirty="0"/>
          </a:p>
        </p:txBody>
      </p:sp>
      <p:sp>
        <p:nvSpPr>
          <p:cNvPr id="4" name="Text 2"/>
          <p:cNvSpPr/>
          <p:nvPr/>
        </p:nvSpPr>
        <p:spPr>
          <a:xfrm>
            <a:off x="640080" y="1554480"/>
            <a:ext cx="7863840" cy="3383280"/>
          </a:xfrm>
          <a:prstGeom prst="rect">
            <a:avLst/>
          </a:prstGeom>
          <a:noFill/>
          <a:ln/>
        </p:spPr>
        <p:txBody>
          <a:bodyPr wrap="square" rtlCol="0" anchor="t"/>
          <a:lstStyle/>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Apply the failure-first inversion: enumerate failure modes before specifying success</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Identify the recurring categories: concurrency, idempotency, boundaries, failure injection, time-related</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Distinguish "all tests pass" from "the system is correct"</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Build test plans that surface failure modes the team would miss otherwise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1F3864"/>
                </a:solidFill>
                <a:latin typeface="Calibri" pitchFamily="34" charset="0"/>
                <a:ea typeface="Calibri" pitchFamily="34" charset="-122"/>
                <a:cs typeface="Calibri" pitchFamily="34" charset="-120"/>
              </a:rPr>
              <a:t>The Inversion</a:t>
            </a:r>
            <a:endParaRPr lang="en-US" sz="2800" dirty="0"/>
          </a:p>
        </p:txBody>
      </p:sp>
      <p:sp>
        <p:nvSpPr>
          <p:cNvPr id="3" name="Text 1"/>
          <p:cNvSpPr/>
          <p:nvPr/>
        </p:nvSpPr>
        <p:spPr>
          <a:xfrm>
            <a:off x="6583680" y="411480"/>
            <a:ext cx="2103120" cy="365760"/>
          </a:xfrm>
          <a:prstGeom prst="rect">
            <a:avLst/>
          </a:prstGeom>
          <a:noFill/>
          <a:ln/>
        </p:spPr>
        <p:txBody>
          <a:bodyPr wrap="square" rtlCol="0" anchor="ctr"/>
          <a:lstStyle/>
          <a:p>
            <a:pPr algn="r" indent="0" marL="0">
              <a:buNone/>
            </a:pPr>
            <a:r>
              <a:rPr lang="en-US" sz="1200" i="1" dirty="0">
                <a:solidFill>
                  <a:srgbClr val="6E6E6E"/>
                </a:solidFill>
                <a:latin typeface="Calibri" pitchFamily="34" charset="0"/>
                <a:ea typeface="Calibri" pitchFamily="34" charset="-122"/>
                <a:cs typeface="Calibri" pitchFamily="34" charset="-120"/>
              </a:rPr>
              <a:t>Chapter 13</a:t>
            </a:r>
            <a:endParaRPr lang="en-US" sz="1200" dirty="0"/>
          </a:p>
        </p:txBody>
      </p:sp>
      <p:sp>
        <p:nvSpPr>
          <p:cNvPr id="4" name="Text 2"/>
          <p:cNvSpPr/>
          <p:nvPr/>
        </p:nvSpPr>
        <p:spPr>
          <a:xfrm>
            <a:off x="640080" y="1280160"/>
            <a:ext cx="7863840" cy="3657600"/>
          </a:xfrm>
          <a:prstGeom prst="rect">
            <a:avLst/>
          </a:prstGeom>
          <a:noFill/>
          <a:ln/>
        </p:spPr>
        <p:txBody>
          <a:bodyPr wrap="square" rtlCol="0" anchor="t"/>
          <a:lstStyle/>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Traditional: write tests for the happy path, then add edge cases</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Failure-first: enumerate the ways the system can fail, write a test for each</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Then confirm the success path still works</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The reordering changes what gets covered</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1F3864"/>
                </a:solidFill>
                <a:latin typeface="Calibri" pitchFamily="34" charset="0"/>
                <a:ea typeface="Calibri" pitchFamily="34" charset="-122"/>
                <a:cs typeface="Calibri" pitchFamily="34" charset="-120"/>
              </a:rPr>
              <a:t>Recurring Categories</a:t>
            </a:r>
            <a:endParaRPr lang="en-US" sz="2800" dirty="0"/>
          </a:p>
        </p:txBody>
      </p:sp>
      <p:sp>
        <p:nvSpPr>
          <p:cNvPr id="3" name="Text 1"/>
          <p:cNvSpPr/>
          <p:nvPr/>
        </p:nvSpPr>
        <p:spPr>
          <a:xfrm>
            <a:off x="6583680" y="411480"/>
            <a:ext cx="2103120" cy="365760"/>
          </a:xfrm>
          <a:prstGeom prst="rect">
            <a:avLst/>
          </a:prstGeom>
          <a:noFill/>
          <a:ln/>
        </p:spPr>
        <p:txBody>
          <a:bodyPr wrap="square" rtlCol="0" anchor="ctr"/>
          <a:lstStyle/>
          <a:p>
            <a:pPr algn="r" indent="0" marL="0">
              <a:buNone/>
            </a:pPr>
            <a:r>
              <a:rPr lang="en-US" sz="1200" i="1" dirty="0">
                <a:solidFill>
                  <a:srgbClr val="6E6E6E"/>
                </a:solidFill>
                <a:latin typeface="Calibri" pitchFamily="34" charset="0"/>
                <a:ea typeface="Calibri" pitchFamily="34" charset="-122"/>
                <a:cs typeface="Calibri" pitchFamily="34" charset="-120"/>
              </a:rPr>
              <a:t>Chapter 13</a:t>
            </a:r>
            <a:endParaRPr lang="en-US" sz="1200" dirty="0"/>
          </a:p>
        </p:txBody>
      </p:sp>
      <p:sp>
        <p:nvSpPr>
          <p:cNvPr id="4" name="Text 2"/>
          <p:cNvSpPr/>
          <p:nvPr/>
        </p:nvSpPr>
        <p:spPr>
          <a:xfrm>
            <a:off x="640080" y="1280160"/>
            <a:ext cx="7863840" cy="3657600"/>
          </a:xfrm>
          <a:prstGeom prst="rect">
            <a:avLst/>
          </a:prstGeom>
          <a:noFill/>
          <a:ln/>
        </p:spPr>
        <p:txBody>
          <a:bodyPr wrap="square" rtlCol="0" anchor="t"/>
          <a:lstStyle/>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Concurrency: contention, races, ordering</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Idempotency: retries produce the same observable result</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Boundaries: empty, max, off-by-one, type limits</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Failure injection: dependencies fail, timeouts trigger, partial state</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Time-related: clock skew, daylight saving, timezone, timestamp parsing</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1F3864"/>
                </a:solidFill>
                <a:latin typeface="Calibri" pitchFamily="34" charset="0"/>
                <a:ea typeface="Calibri" pitchFamily="34" charset="-122"/>
                <a:cs typeface="Calibri" pitchFamily="34" charset="-120"/>
              </a:rPr>
              <a:t>Test Count Is Not Coverage</a:t>
            </a:r>
            <a:endParaRPr lang="en-US" sz="2800" dirty="0"/>
          </a:p>
        </p:txBody>
      </p:sp>
      <p:sp>
        <p:nvSpPr>
          <p:cNvPr id="3" name="Text 1"/>
          <p:cNvSpPr/>
          <p:nvPr/>
        </p:nvSpPr>
        <p:spPr>
          <a:xfrm>
            <a:off x="6583680" y="411480"/>
            <a:ext cx="2103120" cy="365760"/>
          </a:xfrm>
          <a:prstGeom prst="rect">
            <a:avLst/>
          </a:prstGeom>
          <a:noFill/>
          <a:ln/>
        </p:spPr>
        <p:txBody>
          <a:bodyPr wrap="square" rtlCol="0" anchor="ctr"/>
          <a:lstStyle/>
          <a:p>
            <a:pPr algn="r" indent="0" marL="0">
              <a:buNone/>
            </a:pPr>
            <a:r>
              <a:rPr lang="en-US" sz="1200" i="1" dirty="0">
                <a:solidFill>
                  <a:srgbClr val="6E6E6E"/>
                </a:solidFill>
                <a:latin typeface="Calibri" pitchFamily="34" charset="0"/>
                <a:ea typeface="Calibri" pitchFamily="34" charset="-122"/>
                <a:cs typeface="Calibri" pitchFamily="34" charset="-120"/>
              </a:rPr>
              <a:t>Chapter 13</a:t>
            </a:r>
            <a:endParaRPr lang="en-US" sz="1200" dirty="0"/>
          </a:p>
        </p:txBody>
      </p:sp>
      <p:sp>
        <p:nvSpPr>
          <p:cNvPr id="4" name="Text 2"/>
          <p:cNvSpPr/>
          <p:nvPr/>
        </p:nvSpPr>
        <p:spPr>
          <a:xfrm>
            <a:off x="640080" y="1280160"/>
            <a:ext cx="7863840" cy="3657600"/>
          </a:xfrm>
          <a:prstGeom prst="rect">
            <a:avLst/>
          </a:prstGeom>
          <a:noFill/>
          <a:ln/>
        </p:spPr>
        <p:txBody>
          <a:bodyPr wrap="square" rtlCol="0" anchor="t"/>
          <a:lstStyle/>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"We have 4,000 tests" measures effort, not protection</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"Every invariant has a guarding test" is the framework's standard</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Most large suites cover happy path well, failure modes thinly</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Coverage by count hides the imbalance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2E5"/>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9C5A14"/>
                </a:solidFill>
                <a:latin typeface="Calibri" pitchFamily="34" charset="0"/>
                <a:ea typeface="Calibri" pitchFamily="34" charset="-122"/>
                <a:cs typeface="Calibri" pitchFamily="34" charset="-120"/>
              </a:rPr>
              <a:t>Common Mistakes</a:t>
            </a:r>
            <a:endParaRPr lang="en-US" sz="2800" dirty="0"/>
          </a:p>
        </p:txBody>
      </p:sp>
      <p:sp>
        <p:nvSpPr>
          <p:cNvPr id="3" name="Text 1"/>
          <p:cNvSpPr/>
          <p:nvPr/>
        </p:nvSpPr>
        <p:spPr>
          <a:xfrm>
            <a:off x="457200" y="960120"/>
            <a:ext cx="8229600" cy="365760"/>
          </a:xfrm>
          <a:prstGeom prst="rect">
            <a:avLst/>
          </a:prstGeom>
          <a:noFill/>
          <a:ln/>
        </p:spPr>
        <p:txBody>
          <a:bodyPr wrap="square" rtlCol="0" anchor="ctr"/>
          <a:lstStyle/>
          <a:p>
            <a:pPr algn="l" indent="0" marL="0">
              <a:buNone/>
            </a:pPr>
            <a:r>
              <a:rPr lang="en-US" sz="1300" i="1" dirty="0">
                <a:solidFill>
                  <a:srgbClr val="7C4910"/>
                </a:solidFill>
                <a:latin typeface="Calibri" pitchFamily="34" charset="0"/>
                <a:ea typeface="Calibri" pitchFamily="34" charset="-122"/>
                <a:cs typeface="Calibri" pitchFamily="34" charset="-120"/>
              </a:rPr>
              <a:t>Chapter 13 — patterns that look reasonable and aren't</a:t>
            </a:r>
            <a:endParaRPr lang="en-US" sz="1300" dirty="0"/>
          </a:p>
        </p:txBody>
      </p:sp>
      <p:sp>
        <p:nvSpPr>
          <p:cNvPr id="4" name="Text 2"/>
          <p:cNvSpPr/>
          <p:nvPr/>
        </p:nvSpPr>
        <p:spPr>
          <a:xfrm>
            <a:off x="640080" y="1554480"/>
            <a:ext cx="7863840" cy="3200400"/>
          </a:xfrm>
          <a:prstGeom prst="rect">
            <a:avLst/>
          </a:prstGeom>
          <a:noFill/>
          <a:ln/>
        </p:spPr>
        <p:txBody>
          <a:bodyPr wrap="square" rtlCol="0" anchor="t"/>
          <a:lstStyle/>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Counting tests instead of measuring invariant coverage</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Skipping concurrency tests on low-traffic endpoints</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Treating "all tests pass" as proof of correctness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F2F1"/>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3200" b="1" dirty="0">
                <a:solidFill>
                  <a:srgbClr val="14635F"/>
                </a:solidFill>
                <a:latin typeface="Calibri" pitchFamily="34" charset="0"/>
                <a:ea typeface="Calibri" pitchFamily="34" charset="-122"/>
                <a:cs typeface="Calibri" pitchFamily="34" charset="-120"/>
              </a:rPr>
              <a:t>Takeaway</a:t>
            </a:r>
            <a:endParaRPr lang="en-US" sz="3200" dirty="0"/>
          </a:p>
        </p:txBody>
      </p:sp>
      <p:sp>
        <p:nvSpPr>
          <p:cNvPr id="3" name="Text 1"/>
          <p:cNvSpPr/>
          <p:nvPr/>
        </p:nvSpPr>
        <p:spPr>
          <a:xfrm>
            <a:off x="457200" y="960120"/>
            <a:ext cx="8229600" cy="365760"/>
          </a:xfrm>
          <a:prstGeom prst="rect">
            <a:avLst/>
          </a:prstGeom>
          <a:noFill/>
          <a:ln/>
        </p:spPr>
        <p:txBody>
          <a:bodyPr wrap="square" rtlCol="0" anchor="ctr"/>
          <a:lstStyle/>
          <a:p>
            <a:pPr algn="l" indent="0" marL="0">
              <a:buNone/>
            </a:pPr>
            <a:r>
              <a:rPr lang="en-US" sz="1400" i="1" dirty="0">
                <a:solidFill>
                  <a:srgbClr val="0E4D49"/>
                </a:solidFill>
                <a:latin typeface="Calibri" pitchFamily="34" charset="0"/>
                <a:ea typeface="Calibri" pitchFamily="34" charset="-122"/>
                <a:cs typeface="Calibri" pitchFamily="34" charset="-120"/>
              </a:rPr>
              <a:t>Chapter 13 — Failure-First QA</a:t>
            </a:r>
            <a:endParaRPr lang="en-US" sz="1400" dirty="0"/>
          </a:p>
        </p:txBody>
      </p:sp>
      <p:sp>
        <p:nvSpPr>
          <p:cNvPr id="4" name="Text 2"/>
          <p:cNvSpPr/>
          <p:nvPr/>
        </p:nvSpPr>
        <p:spPr>
          <a:xfrm>
            <a:off x="640080" y="1645920"/>
            <a:ext cx="7863840" cy="3108960"/>
          </a:xfrm>
          <a:prstGeom prst="rect">
            <a:avLst/>
          </a:prstGeom>
          <a:noFill/>
          <a:ln/>
        </p:spPr>
        <p:txBody>
          <a:bodyPr wrap="square" rtlCol="0" anchor="t"/>
          <a:lstStyle/>
          <a:p>
            <a:pPr algn="l" indent="0" marL="0">
              <a:spcAft>
                <a:spcPts val="1200"/>
              </a:spcAft>
              <a:buNone/>
            </a:pPr>
            <a:r>
              <a:rPr lang="en-US" sz="1900" dirty="0">
                <a:solidFill>
                  <a:srgbClr val="333333"/>
                </a:solidFill>
                <a:latin typeface="Calibri" pitchFamily="34" charset="0"/>
                <a:ea typeface="Calibri" pitchFamily="34" charset="-122"/>
                <a:cs typeface="Calibri" pitchFamily="34" charset="-120"/>
              </a:rPr>
              <a:t>Failure-first QA starts with the ways the system can fail and only afterward confirms that the success path still works. Every invariant has at least one negative test that fails when the invariant is violated.</a:t>
            </a:r>
            <a:endParaRPr lang="en-US" sz="19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640080"/>
          </a:xfrm>
          <a:prstGeom prst="rect">
            <a:avLst/>
          </a:prstGeom>
          <a:noFill/>
        </p:spPr>
        <p:txBody>
          <a:bodyPr wrap="none" lIns="0" rIns="0" tIns="0" bIns="0">
            <a:spAutoFit/>
          </a:bodyPr>
          <a:lstStyle/>
          <a:p>
            <a:pPr algn="l"/>
            <a:r>
              <a:rPr sz="2400" b="1">
                <a:solidFill>
                  <a:srgbClr val="1F3864"/>
                </a:solidFill>
                <a:latin typeface="Calibri"/>
              </a:rPr>
              <a:t>Figure 13.1 — The failure-first test pyramid</a:t>
            </a:r>
          </a:p>
        </p:txBody>
      </p:sp>
      <p:pic>
        <p:nvPicPr>
          <p:cNvPr id="3" name="Picture 2" descr="e09392011b946240d60b75a6bcab10e7f0254cd5.png"/>
          <p:cNvPicPr>
            <a:picLocks noChangeAspect="1"/>
          </p:cNvPicPr>
          <p:nvPr/>
        </p:nvPicPr>
        <p:blipFill>
          <a:blip r:embed="rId2"/>
          <a:stretch>
            <a:fillRect/>
          </a:stretch>
        </p:blipFill>
        <p:spPr>
          <a:xfrm>
            <a:off x="2117113" y="1280160"/>
            <a:ext cx="4909773" cy="3314700"/>
          </a:xfrm>
          <a:prstGeom prst="rect">
            <a:avLst/>
          </a:prstGeom>
        </p:spPr>
      </p:pic>
      <p:sp>
        <p:nvSpPr>
          <p:cNvPr id="4" name="TextBox 3"/>
          <p:cNvSpPr txBox="1"/>
          <p:nvPr/>
        </p:nvSpPr>
        <p:spPr>
          <a:xfrm>
            <a:off x="457200" y="4686300"/>
            <a:ext cx="8229600" cy="274320"/>
          </a:xfrm>
          <a:prstGeom prst="rect">
            <a:avLst/>
          </a:prstGeom>
          <a:noFill/>
        </p:spPr>
        <p:txBody>
          <a:bodyPr wrap="none" lIns="0" rIns="0" tIns="0" bIns="0">
            <a:spAutoFit/>
          </a:bodyPr>
          <a:lstStyle/>
          <a:p>
            <a:pPr algn="ctr"/>
            <a:r>
              <a:rPr sz="1100" i="1">
                <a:solidFill>
                  <a:srgbClr val="6E7E94"/>
                </a:solidFill>
                <a:latin typeface="Calibri"/>
              </a:rPr>
              <a:t>AI-Driven SDLC — A Federated Framework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13 — Failure-First QA</dc:title>
  <dc:subject>PptxGenJS Presentation</dc:subject>
  <dc:creator>Anthropic</dc:creator>
  <cp:lastModifiedBy>Anthropic</cp:lastModifiedBy>
  <cp:revision>1</cp:revision>
  <dcterms:created xsi:type="dcterms:W3CDTF">2026-05-03T17:33:03Z</dcterms:created>
  <dcterms:modified xsi:type="dcterms:W3CDTF">2026-05-03T17:33:03Z</dcterms:modified>
</cp:coreProperties>
</file>